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8" r:id="rId2"/>
    <p:sldId id="256" r:id="rId3"/>
    <p:sldId id="259" r:id="rId4"/>
    <p:sldId id="257" r:id="rId5"/>
    <p:sldId id="260" r:id="rId6"/>
    <p:sldId id="261" r:id="rId7"/>
    <p:sldId id="266" r:id="rId8"/>
    <p:sldId id="267" r:id="rId9"/>
    <p:sldId id="271" r:id="rId10"/>
    <p:sldId id="269" r:id="rId11"/>
    <p:sldId id="268" r:id="rId12"/>
    <p:sldId id="270" r:id="rId13"/>
    <p:sldId id="265" r:id="rId14"/>
    <p:sldId id="264" r:id="rId15"/>
    <p:sldId id="263" r:id="rId16"/>
    <p:sldId id="262"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snapToGrid="0">
      <p:cViewPr>
        <p:scale>
          <a:sx n="80" d="100"/>
          <a:sy n="80" d="100"/>
        </p:scale>
        <p:origin x="461" y="48"/>
      </p:cViewPr>
      <p:guideLst>
        <p:guide orient="horz" pos="2160"/>
        <p:guide pos="3840"/>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EF1506-0A0A-B919-4552-40907DD520A2}"/>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73C5F90-7542-193A-1736-025BC287DF84}"/>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E7136F79-C8A2-40FF-A8FD-00B7746E44E9}" type="datetimeFigureOut">
              <a:rPr lang="en-IN" smtClean="0"/>
              <a:t>10-06-2026</a:t>
            </a:fld>
            <a:endParaRPr lang="en-IN"/>
          </a:p>
        </p:txBody>
      </p:sp>
      <p:sp>
        <p:nvSpPr>
          <p:cNvPr id="4" name="Footer Placeholder 3">
            <a:extLst>
              <a:ext uri="{FF2B5EF4-FFF2-40B4-BE49-F238E27FC236}">
                <a16:creationId xmlns:a16="http://schemas.microsoft.com/office/drawing/2014/main" id="{C261ECC5-09EC-86B0-82CF-E95799B58A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79D2BB2-882F-51CF-DEE2-5AB5EF0235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2E153F-8072-4E31-8A93-DD6DA7F01511}" type="slidenum">
              <a:rPr lang="en-IN" smtClean="0"/>
              <a:t>‹#›</a:t>
            </a:fld>
            <a:endParaRPr lang="en-IN"/>
          </a:p>
        </p:txBody>
      </p:sp>
    </p:spTree>
    <p:extLst>
      <p:ext uri="{BB962C8B-B14F-4D97-AF65-F5344CB8AC3E}">
        <p14:creationId xmlns:p14="http://schemas.microsoft.com/office/powerpoint/2010/main" val="3927655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79C3803-45FF-498C-80B5-BC0E00E8DE4D}" type="datetimeFigureOut">
              <a:rPr lang="en-IN" smtClean="0"/>
              <a:t>10-06-2026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66ED03-16E9-4620-8614-C6413FADC755}" type="slidenum">
              <a:rPr lang="en-IN" smtClean="0"/>
              <a:t>‹#›</a:t>
            </a:fld>
            <a:endParaRPr lang="en-IN"/>
          </a:p>
        </p:txBody>
      </p:sp>
    </p:spTree>
    <p:extLst>
      <p:ext uri="{BB962C8B-B14F-4D97-AF65-F5344CB8AC3E}">
        <p14:creationId xmlns:p14="http://schemas.microsoft.com/office/powerpoint/2010/main" val="1242391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8B488-5699-0F53-C259-728CBEC871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8CA19E-950A-B553-938A-5A1D622FA74F}"/>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8B6A50-A5C6-7210-C734-31D97263EC96}"/>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3B4D0402-7593-D66E-DF5B-1D0746BB9B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49A258-1A55-008B-F01A-DDF11A112C18}"/>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1789505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2522-E1D7-7815-5811-910072E9FC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D8CCA7-C328-6F2C-F305-D6AB133CBF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EA9253-6CEB-E825-49B3-64D09A0F941F}"/>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48B28AAA-7526-39DB-DFE3-2643153DCA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4C8A4E-C822-139D-A02F-12B60F58C683}"/>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10061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9655D-E1DC-8BDC-52BE-85CBC4818D04}"/>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0E16C9-CCAB-623E-35E8-5125AEF16EB4}"/>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203318-1823-5F59-EA47-0B3072B40CCF}"/>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BAC7928B-B8C3-C518-99EE-99C1A6B0D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DFBEBF-D95B-A550-D6E1-B7AC7415774A}"/>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3602753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EA347-2423-0C48-4BEE-B3C421640C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DCAA5A-10A8-1D27-059E-72FAB9780C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279E82-6289-C4BA-E6CA-4BEA8CE546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3B4A04-E94C-0C9F-70EF-8BE48CA5AA3B}"/>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6" name="Footer Placeholder 5">
            <a:extLst>
              <a:ext uri="{FF2B5EF4-FFF2-40B4-BE49-F238E27FC236}">
                <a16:creationId xmlns:a16="http://schemas.microsoft.com/office/drawing/2014/main" id="{486C0EBE-1855-8A5F-9526-B110113AEF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C85F67-0966-10EB-F2FF-B8B6BC073E2A}"/>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4268493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CF266-D125-86DC-6921-BE3AA1271866}"/>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9F5282-CE7D-3C9E-B673-37782E9E2C8E}"/>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4870BA-F3A2-B1BE-2E66-4A3028486E9E}"/>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2BCAA6-2A85-8D97-0E86-E24ECA273889}"/>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53C125-FCA3-52C3-A0A3-12DE446BF8CF}"/>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EC318D-8071-6148-29AE-FAAFCABAAA68}"/>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8" name="Footer Placeholder 7">
            <a:extLst>
              <a:ext uri="{FF2B5EF4-FFF2-40B4-BE49-F238E27FC236}">
                <a16:creationId xmlns:a16="http://schemas.microsoft.com/office/drawing/2014/main" id="{87057725-829C-9FBD-28F0-943AEFFDD4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0DEBBE-D2DB-ACFD-56EA-68FBB1716708}"/>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3272039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1059-59CB-DE46-1B76-B379A93A1DD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70DB1D-5C01-7D8F-89DB-7D517A96574A}"/>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4" name="Footer Placeholder 3">
            <a:extLst>
              <a:ext uri="{FF2B5EF4-FFF2-40B4-BE49-F238E27FC236}">
                <a16:creationId xmlns:a16="http://schemas.microsoft.com/office/drawing/2014/main" id="{EE69C9D6-FD23-6875-18F5-5C771DA5BC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7623C1-CD33-74A2-D92C-F5DD6F535562}"/>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1999195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68065D-89D9-C408-0D52-760DB88B7778}"/>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3" name="Footer Placeholder 2">
            <a:extLst>
              <a:ext uri="{FF2B5EF4-FFF2-40B4-BE49-F238E27FC236}">
                <a16:creationId xmlns:a16="http://schemas.microsoft.com/office/drawing/2014/main" id="{7166E5AB-881B-9C12-150F-B9412B879A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479C73-F154-9DF2-60BE-22D8B70DB736}"/>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2578234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B835C-367A-CFD5-1944-0D284AD10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7A5808-E246-4459-9F8E-EFDD4C591848}"/>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5AB884-ED77-968E-6B78-90B2327F7E99}"/>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B496B-93E7-B48B-47AE-9350D98545B8}"/>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6" name="Footer Placeholder 5">
            <a:extLst>
              <a:ext uri="{FF2B5EF4-FFF2-40B4-BE49-F238E27FC236}">
                <a16:creationId xmlns:a16="http://schemas.microsoft.com/office/drawing/2014/main" id="{B1E131E7-C75B-835D-FB7D-479FBA8BD2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D5FF36-EB81-5C2F-9660-7A8412822751}"/>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3955010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FB29-9F9D-7D5C-5C42-8F982F684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86B2F2-72B8-309B-99F0-068239E1228E}"/>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a:p>
        </p:txBody>
      </p:sp>
      <p:sp>
        <p:nvSpPr>
          <p:cNvPr id="4" name="Text Placeholder 3">
            <a:extLst>
              <a:ext uri="{FF2B5EF4-FFF2-40B4-BE49-F238E27FC236}">
                <a16:creationId xmlns:a16="http://schemas.microsoft.com/office/drawing/2014/main" id="{D5C25723-8AAE-269F-8896-C9C5895BB6BB}"/>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86C0B-656B-1AF2-24D7-9657E870D255}"/>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6" name="Footer Placeholder 5">
            <a:extLst>
              <a:ext uri="{FF2B5EF4-FFF2-40B4-BE49-F238E27FC236}">
                <a16:creationId xmlns:a16="http://schemas.microsoft.com/office/drawing/2014/main" id="{0E7904AA-A204-5F7C-DBBC-119D7F7CF5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E5BFDD-0A39-447D-923F-9B294545EB07}"/>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2919632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C380-04D7-B916-6C31-02962B17C5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56CDBB-FB6B-2FF7-FAAE-CABE49DEDF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A4488-8DED-132A-6AF2-6F3D19F6012E}"/>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4784E5CE-EC87-E784-B37C-768BD3ABF7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1E6172-F70C-C6BB-322A-B0CE86993CB9}"/>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978937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F35B3C-837F-C0EC-E824-6B01C3795742}"/>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530DBC-36BA-E01C-6B7B-AD5CD979ACA8}"/>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80217-74E2-BA65-9A78-CBC7C5A92AC4}"/>
              </a:ext>
            </a:extLst>
          </p:cNvPr>
          <p:cNvSpPr>
            <a:spLocks noGrp="1"/>
          </p:cNvSpPr>
          <p:nvPr>
            <p:ph type="dt" sz="half" idx="10"/>
          </p:nvPr>
        </p:nvSpPr>
        <p:spPr/>
        <p:txBody>
          <a:body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CCA66D52-D23F-7D2A-AF7D-58D6AC0AC5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0A4B82-D4DD-DDF3-9F0A-DE00A52D1570}"/>
              </a:ext>
            </a:extLst>
          </p:cNvPr>
          <p:cNvSpPr>
            <a:spLocks noGrp="1"/>
          </p:cNvSpPr>
          <p:nvPr>
            <p:ph type="sldNum" sz="quarter" idx="12"/>
          </p:nvPr>
        </p:nvSpPr>
        <p:spPr/>
        <p:txBody>
          <a:bodyPr/>
          <a:lstStyle/>
          <a:p>
            <a:fld id="{BBD6C8D6-7AEE-46F5-9CED-D05186976032}" type="slidenum">
              <a:rPr lang="en-IN" smtClean="0"/>
              <a:t>‹#›</a:t>
            </a:fld>
            <a:endParaRPr lang="en-IN"/>
          </a:p>
        </p:txBody>
      </p:sp>
    </p:spTree>
    <p:extLst>
      <p:ext uri="{BB962C8B-B14F-4D97-AF65-F5344CB8AC3E}">
        <p14:creationId xmlns:p14="http://schemas.microsoft.com/office/powerpoint/2010/main" val="4056324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EE6D53-8612-3DA1-3D8C-55B1E96C8A5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647C57-AD3E-E2CC-D0C2-6FEFAE0C3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BC1056-09D6-42FF-6692-DA146DC7F43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A2A89E-D439-41FF-B41E-56DAAFB69416}" type="datetimeFigureOut">
              <a:rPr lang="en-IN" smtClean="0"/>
              <a:t>10-06-2026</a:t>
            </a:fld>
            <a:endParaRPr lang="en-IN"/>
          </a:p>
        </p:txBody>
      </p:sp>
      <p:sp>
        <p:nvSpPr>
          <p:cNvPr id="5" name="Footer Placeholder 4">
            <a:extLst>
              <a:ext uri="{FF2B5EF4-FFF2-40B4-BE49-F238E27FC236}">
                <a16:creationId xmlns:a16="http://schemas.microsoft.com/office/drawing/2014/main" id="{BD32D8CC-00AB-407E-53E7-5289114555C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CA742C9-3618-8A70-1E29-42109EC0BF5D}"/>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6C8D6-7AEE-46F5-9CED-D05186976032}" type="slidenum">
              <a:rPr lang="en-IN" smtClean="0"/>
              <a:t>‹#›</a:t>
            </a:fld>
            <a:endParaRPr lang="en-IN"/>
          </a:p>
        </p:txBody>
      </p:sp>
    </p:spTree>
    <p:extLst>
      <p:ext uri="{BB962C8B-B14F-4D97-AF65-F5344CB8AC3E}">
        <p14:creationId xmlns:p14="http://schemas.microsoft.com/office/powerpoint/2010/main" val="2329097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889D-AAE8-AA70-F534-EEC855B59647}"/>
              </a:ext>
            </a:extLst>
          </p:cNvPr>
          <p:cNvSpPr>
            <a:spLocks noGrp="1"/>
          </p:cNvSpPr>
          <p:nvPr>
            <p:ph type="ctrTitle"/>
          </p:nvPr>
        </p:nvSpPr>
        <p:spPr>
          <a:xfrm>
            <a:off x="1167714" y="275489"/>
            <a:ext cx="9144000" cy="882102"/>
          </a:xfrm>
        </p:spPr>
        <p:txBody>
          <a:bodyPr>
            <a:normAutofit/>
          </a:bodyPr>
          <a:lstStyle/>
          <a:p>
            <a:r>
              <a:rPr lang="en-US" sz="2800" b="1" u="sng" dirty="0">
                <a:solidFill>
                  <a:schemeClr val="accent1"/>
                </a:solidFill>
              </a:rPr>
              <a:t>Project Summary: End-To-End-Sales-Analysis</a:t>
            </a:r>
            <a:br>
              <a:rPr lang="en-IN" sz="2800" b="1" u="sng" dirty="0"/>
            </a:br>
            <a:endParaRPr lang="en-IN" sz="2800" b="1" u="sng" dirty="0">
              <a:solidFill>
                <a:schemeClr val="tx2"/>
              </a:solidFill>
            </a:endParaRPr>
          </a:p>
        </p:txBody>
      </p:sp>
      <p:sp>
        <p:nvSpPr>
          <p:cNvPr id="3" name="Subtitle 2">
            <a:extLst>
              <a:ext uri="{FF2B5EF4-FFF2-40B4-BE49-F238E27FC236}">
                <a16:creationId xmlns:a16="http://schemas.microsoft.com/office/drawing/2014/main" id="{5D1733D9-E772-B594-2A7B-10ECC5AA5877}"/>
              </a:ext>
            </a:extLst>
          </p:cNvPr>
          <p:cNvSpPr>
            <a:spLocks noGrp="1"/>
          </p:cNvSpPr>
          <p:nvPr>
            <p:ph type="subTitle" idx="1"/>
          </p:nvPr>
        </p:nvSpPr>
        <p:spPr>
          <a:xfrm>
            <a:off x="549314" y="1313233"/>
            <a:ext cx="10711543" cy="4552545"/>
          </a:xfrm>
        </p:spPr>
        <p:txBody>
          <a:bodyPr>
            <a:normAutofit lnSpcReduction="10000"/>
          </a:bodyPr>
          <a:lstStyle/>
          <a:p>
            <a:pPr algn="l"/>
            <a:r>
              <a:rPr lang="en-US" b="1" dirty="0"/>
              <a:t>Project Overview</a:t>
            </a:r>
            <a:r>
              <a:rPr lang="en-US" dirty="0"/>
              <a:t> : This project provides a 360-degree analysis of an E-commerce marketplace using SQL and Python. </a:t>
            </a:r>
          </a:p>
          <a:p>
            <a:pPr algn="l"/>
            <a:endParaRPr lang="en-US" dirty="0"/>
          </a:p>
          <a:p>
            <a:pPr algn="l"/>
            <a:r>
              <a:rPr lang="en-US" b="1" dirty="0"/>
              <a:t>The Objective: </a:t>
            </a:r>
            <a:r>
              <a:rPr lang="en-US" dirty="0"/>
              <a:t>To extract fundamental business metrics, analyze sales trends, and generate strategic, customer-centric insights (like YoY growth and retention rates) to support data-driven decision-making.</a:t>
            </a:r>
          </a:p>
          <a:p>
            <a:pPr algn="l"/>
            <a:endParaRPr lang="en-US" dirty="0"/>
          </a:p>
          <a:p>
            <a:pPr algn="l"/>
            <a:r>
              <a:rPr lang="en-IN" b="1" dirty="0"/>
              <a:t>Tools &amp; Technologies Used: </a:t>
            </a:r>
          </a:p>
          <a:p>
            <a:pPr algn="l"/>
            <a:r>
              <a:rPr lang="en-IN" dirty="0"/>
              <a:t>SQL (MySQL Workbench): Data extraction, joining multiple tables, and initial aggregations of marketplace metrics.</a:t>
            </a:r>
          </a:p>
          <a:p>
            <a:pPr algn="l"/>
            <a:r>
              <a:rPr lang="en-IN" dirty="0"/>
              <a:t>Python (Google Colab) environment utilizing Pandas for data cleaning, Matplotlib and Seaborn for advanced trend visualizations.</a:t>
            </a:r>
          </a:p>
          <a:p>
            <a:pPr algn="l"/>
            <a:endParaRPr lang="en-IN" dirty="0"/>
          </a:p>
          <a:p>
            <a:endParaRPr lang="en-IN" b="1" dirty="0"/>
          </a:p>
          <a:p>
            <a:pPr algn="just"/>
            <a:endParaRPr lang="en-IN" dirty="0"/>
          </a:p>
          <a:p>
            <a:pPr algn="l"/>
            <a:endParaRPr lang="en-IN" dirty="0"/>
          </a:p>
        </p:txBody>
      </p:sp>
    </p:spTree>
    <p:extLst>
      <p:ext uri="{BB962C8B-B14F-4D97-AF65-F5344CB8AC3E}">
        <p14:creationId xmlns:p14="http://schemas.microsoft.com/office/powerpoint/2010/main" val="1277179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74D6ACC-B404-C303-A6C6-5FDD9F43A184}"/>
              </a:ext>
            </a:extLst>
          </p:cNvPr>
          <p:cNvSpPr>
            <a:spLocks noGrp="1"/>
          </p:cNvSpPr>
          <p:nvPr>
            <p:ph type="title"/>
          </p:nvPr>
        </p:nvSpPr>
        <p:spPr>
          <a:xfrm>
            <a:off x="525294" y="869959"/>
            <a:ext cx="10749849" cy="418292"/>
          </a:xfrm>
        </p:spPr>
        <p:txBody>
          <a:bodyPr>
            <a:noAutofit/>
          </a:bodyPr>
          <a:lstStyle/>
          <a:p>
            <a:r>
              <a:rPr lang="en-US" sz="2400" dirty="0"/>
              <a:t>1. </a:t>
            </a:r>
            <a:r>
              <a:rPr lang="en-US" sz="2400" b="1" dirty="0"/>
              <a:t>List all unique cities where customers are located.</a:t>
            </a:r>
            <a:br>
              <a:rPr lang="en-IN" dirty="0"/>
            </a:br>
            <a:endParaRPr lang="en-IN" dirty="0"/>
          </a:p>
        </p:txBody>
      </p:sp>
      <p:sp>
        <p:nvSpPr>
          <p:cNvPr id="2" name="TextBox 1">
            <a:extLst>
              <a:ext uri="{FF2B5EF4-FFF2-40B4-BE49-F238E27FC236}">
                <a16:creationId xmlns:a16="http://schemas.microsoft.com/office/drawing/2014/main" id="{92C5725F-D860-9DB3-F097-8D156D7E6D9F}"/>
              </a:ext>
            </a:extLst>
          </p:cNvPr>
          <p:cNvSpPr txBox="1"/>
          <p:nvPr/>
        </p:nvSpPr>
        <p:spPr>
          <a:xfrm>
            <a:off x="877300" y="5988041"/>
            <a:ext cx="10028001" cy="707886"/>
          </a:xfrm>
          <a:prstGeom prst="rect">
            <a:avLst/>
          </a:prstGeom>
          <a:noFill/>
          <a:ln>
            <a:solidFill>
              <a:schemeClr val="tx1"/>
            </a:solidFill>
          </a:ln>
        </p:spPr>
        <p:txBody>
          <a:bodyPr wrap="square" rtlCol="0">
            <a:spAutoFit/>
          </a:bodyPr>
          <a:lstStyle/>
          <a:p>
            <a:r>
              <a:rPr lang="en-US" sz="2000" b="1" dirty="0"/>
              <a:t>Insight</a:t>
            </a:r>
            <a:r>
              <a:rPr lang="en-US" sz="2000" dirty="0"/>
              <a:t>: Most of our customers live in Sao Paulo. We should focus our marketing and fast delivery services in this city. </a:t>
            </a:r>
          </a:p>
        </p:txBody>
      </p:sp>
      <p:sp>
        <p:nvSpPr>
          <p:cNvPr id="3" name="TextBox 2">
            <a:extLst>
              <a:ext uri="{FF2B5EF4-FFF2-40B4-BE49-F238E27FC236}">
                <a16:creationId xmlns:a16="http://schemas.microsoft.com/office/drawing/2014/main" id="{754B025F-B02A-4315-C24C-C1EDA56E594D}"/>
              </a:ext>
            </a:extLst>
          </p:cNvPr>
          <p:cNvSpPr txBox="1"/>
          <p:nvPr/>
        </p:nvSpPr>
        <p:spPr>
          <a:xfrm>
            <a:off x="525294" y="0"/>
            <a:ext cx="5023312" cy="461665"/>
          </a:xfrm>
          <a:prstGeom prst="rect">
            <a:avLst/>
          </a:prstGeom>
          <a:noFill/>
        </p:spPr>
        <p:txBody>
          <a:bodyPr wrap="square" rtlCol="0">
            <a:spAutoFit/>
          </a:bodyPr>
          <a:lstStyle/>
          <a:p>
            <a:r>
              <a:rPr lang="en-IN" sz="2400" b="1" u="sng" dirty="0"/>
              <a:t>Analysis and visualizations :</a:t>
            </a:r>
          </a:p>
        </p:txBody>
      </p:sp>
      <p:pic>
        <p:nvPicPr>
          <p:cNvPr id="1028" name="Picture 4">
            <a:extLst>
              <a:ext uri="{FF2B5EF4-FFF2-40B4-BE49-F238E27FC236}">
                <a16:creationId xmlns:a16="http://schemas.microsoft.com/office/drawing/2014/main" id="{65C86460-17CA-D21D-916C-233CDD290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531" y="3210128"/>
            <a:ext cx="4521770" cy="25607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74FE68D1-5D09-04CD-262B-9E00A8CAEEA9}"/>
              </a:ext>
            </a:extLst>
          </p:cNvPr>
          <p:cNvPicPr>
            <a:picLocks noChangeAspect="1"/>
          </p:cNvPicPr>
          <p:nvPr/>
        </p:nvPicPr>
        <p:blipFill>
          <a:blip r:embed="rId3"/>
          <a:srcRect l="8338"/>
          <a:stretch>
            <a:fillRect/>
          </a:stretch>
        </p:blipFill>
        <p:spPr>
          <a:xfrm>
            <a:off x="877300" y="3205105"/>
            <a:ext cx="4521769" cy="2560723"/>
          </a:xfrm>
          <a:prstGeom prst="rect">
            <a:avLst/>
          </a:prstGeom>
          <a:ln>
            <a:solidFill>
              <a:schemeClr val="tx1"/>
            </a:solidFill>
          </a:ln>
        </p:spPr>
      </p:pic>
      <p:pic>
        <p:nvPicPr>
          <p:cNvPr id="19" name="Picture 18">
            <a:extLst>
              <a:ext uri="{FF2B5EF4-FFF2-40B4-BE49-F238E27FC236}">
                <a16:creationId xmlns:a16="http://schemas.microsoft.com/office/drawing/2014/main" id="{3B20C278-4D05-F0AD-B12C-0D72A71209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299" y="1087149"/>
            <a:ext cx="4521770" cy="1797322"/>
          </a:xfrm>
          <a:prstGeom prst="rect">
            <a:avLst/>
          </a:prstGeom>
          <a:ln>
            <a:solidFill>
              <a:schemeClr val="tx1"/>
            </a:solidFill>
          </a:ln>
        </p:spPr>
      </p:pic>
      <p:pic>
        <p:nvPicPr>
          <p:cNvPr id="23" name="Picture 22">
            <a:extLst>
              <a:ext uri="{FF2B5EF4-FFF2-40B4-BE49-F238E27FC236}">
                <a16:creationId xmlns:a16="http://schemas.microsoft.com/office/drawing/2014/main" id="{0DFCD328-82BF-11B6-9B1D-297FDA183F8A}"/>
              </a:ext>
            </a:extLst>
          </p:cNvPr>
          <p:cNvPicPr>
            <a:picLocks noChangeAspect="1"/>
          </p:cNvPicPr>
          <p:nvPr/>
        </p:nvPicPr>
        <p:blipFill>
          <a:blip r:embed="rId5"/>
          <a:stretch>
            <a:fillRect/>
          </a:stretch>
        </p:blipFill>
        <p:spPr>
          <a:xfrm>
            <a:off x="6383531" y="1087149"/>
            <a:ext cx="4521770" cy="1797322"/>
          </a:xfrm>
          <a:prstGeom prst="rect">
            <a:avLst/>
          </a:prstGeom>
          <a:ln>
            <a:solidFill>
              <a:schemeClr val="tx1"/>
            </a:solidFill>
          </a:ln>
        </p:spPr>
      </p:pic>
    </p:spTree>
    <p:extLst>
      <p:ext uri="{BB962C8B-B14F-4D97-AF65-F5344CB8AC3E}">
        <p14:creationId xmlns:p14="http://schemas.microsoft.com/office/powerpoint/2010/main" val="2911040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31820-5374-E9DA-D5D6-68EB8AD79D39}"/>
              </a:ext>
            </a:extLst>
          </p:cNvPr>
          <p:cNvSpPr>
            <a:spLocks noGrp="1"/>
          </p:cNvSpPr>
          <p:nvPr>
            <p:ph type="title"/>
          </p:nvPr>
        </p:nvSpPr>
        <p:spPr>
          <a:xfrm>
            <a:off x="554477" y="80644"/>
            <a:ext cx="10818779" cy="796925"/>
          </a:xfrm>
        </p:spPr>
        <p:txBody>
          <a:bodyPr>
            <a:normAutofit fontScale="90000"/>
          </a:bodyPr>
          <a:lstStyle/>
          <a:p>
            <a:r>
              <a:rPr lang="en-US" sz="2700" b="1" dirty="0"/>
              <a:t>2. Find the total sales per category.</a:t>
            </a:r>
            <a:br>
              <a:rPr lang="en-IN" dirty="0"/>
            </a:br>
            <a:endParaRPr lang="en-IN" sz="2800" dirty="0"/>
          </a:p>
        </p:txBody>
      </p:sp>
      <p:pic>
        <p:nvPicPr>
          <p:cNvPr id="5" name="Content Placeholder 4">
            <a:extLst>
              <a:ext uri="{FF2B5EF4-FFF2-40B4-BE49-F238E27FC236}">
                <a16:creationId xmlns:a16="http://schemas.microsoft.com/office/drawing/2014/main" id="{0C686314-29D6-95F3-717A-2FB896B06DA5}"/>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r="67018"/>
          <a:stretch>
            <a:fillRect/>
          </a:stretch>
        </p:blipFill>
        <p:spPr bwMode="auto">
          <a:xfrm>
            <a:off x="662894" y="3543353"/>
            <a:ext cx="4581740" cy="2216044"/>
          </a:xfrm>
          <a:prstGeom prst="rect">
            <a:avLst/>
          </a:prstGeom>
          <a:ln>
            <a:solidFill>
              <a:schemeClr val="tx1"/>
            </a:solid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CBD4E895-EF1F-DD80-BBE3-E2DCD686CF25}"/>
              </a:ext>
            </a:extLst>
          </p:cNvPr>
          <p:cNvSpPr txBox="1"/>
          <p:nvPr/>
        </p:nvSpPr>
        <p:spPr>
          <a:xfrm>
            <a:off x="662894" y="5971326"/>
            <a:ext cx="10225406" cy="738664"/>
          </a:xfrm>
          <a:prstGeom prst="rect">
            <a:avLst/>
          </a:prstGeom>
          <a:noFill/>
          <a:ln>
            <a:solidFill>
              <a:schemeClr val="tx1"/>
            </a:solidFill>
          </a:ln>
        </p:spPr>
        <p:txBody>
          <a:bodyPr wrap="square" rtlCol="0">
            <a:spAutoFit/>
          </a:bodyPr>
          <a:lstStyle/>
          <a:p>
            <a:r>
              <a:rPr lang="en-IN" b="1" dirty="0"/>
              <a:t>Insight</a:t>
            </a:r>
            <a:r>
              <a:rPr lang="en-IN" dirty="0"/>
              <a:t>: "Health Beauty" and "Watches" generate the highest sales. We should promote these items more on the homepage</a:t>
            </a:r>
            <a:r>
              <a:rPr lang="en-IN" sz="2400" dirty="0"/>
              <a:t>.</a:t>
            </a:r>
            <a:endParaRPr lang="en-IN" dirty="0"/>
          </a:p>
        </p:txBody>
      </p:sp>
      <p:pic>
        <p:nvPicPr>
          <p:cNvPr id="4" name="Picture 3">
            <a:extLst>
              <a:ext uri="{FF2B5EF4-FFF2-40B4-BE49-F238E27FC236}">
                <a16:creationId xmlns:a16="http://schemas.microsoft.com/office/drawing/2014/main" id="{FDD90263-9ED5-98EE-2BEA-5E1C2DF926B3}"/>
              </a:ext>
            </a:extLst>
          </p:cNvPr>
          <p:cNvPicPr>
            <a:picLocks noChangeAspect="1"/>
          </p:cNvPicPr>
          <p:nvPr/>
        </p:nvPicPr>
        <p:blipFill>
          <a:blip r:embed="rId3"/>
          <a:stretch>
            <a:fillRect/>
          </a:stretch>
        </p:blipFill>
        <p:spPr>
          <a:xfrm>
            <a:off x="662894" y="877569"/>
            <a:ext cx="4581740" cy="2437078"/>
          </a:xfrm>
          <a:prstGeom prst="rect">
            <a:avLst/>
          </a:prstGeom>
          <a:ln>
            <a:solidFill>
              <a:schemeClr val="tx1"/>
            </a:solidFill>
          </a:ln>
        </p:spPr>
      </p:pic>
      <p:pic>
        <p:nvPicPr>
          <p:cNvPr id="2050" name="Picture 2">
            <a:extLst>
              <a:ext uri="{FF2B5EF4-FFF2-40B4-BE49-F238E27FC236}">
                <a16:creationId xmlns:a16="http://schemas.microsoft.com/office/drawing/2014/main" id="{252DAF97-28C3-653B-8F50-F380798B9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3054" y="3543351"/>
            <a:ext cx="4925245" cy="22160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0116125-B5F4-B452-7495-4A730CA795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63054" y="877569"/>
            <a:ext cx="4925245" cy="2437078"/>
          </a:xfrm>
          <a:prstGeom prst="rect">
            <a:avLst/>
          </a:prstGeom>
          <a:ln>
            <a:solidFill>
              <a:schemeClr val="tx1"/>
            </a:solidFill>
          </a:ln>
        </p:spPr>
      </p:pic>
    </p:spTree>
    <p:extLst>
      <p:ext uri="{BB962C8B-B14F-4D97-AF65-F5344CB8AC3E}">
        <p14:creationId xmlns:p14="http://schemas.microsoft.com/office/powerpoint/2010/main" val="1446905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3CD2-7AAA-937B-DC9C-0AFC18F0006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59BA7E7-917E-28B6-AB06-FE37691BEF8E}"/>
              </a:ext>
            </a:extLst>
          </p:cNvPr>
          <p:cNvSpPr>
            <a:spLocks noGrp="1"/>
          </p:cNvSpPr>
          <p:nvPr>
            <p:ph type="title"/>
          </p:nvPr>
        </p:nvSpPr>
        <p:spPr>
          <a:xfrm>
            <a:off x="544749" y="327735"/>
            <a:ext cx="10809051" cy="742309"/>
          </a:xfrm>
        </p:spPr>
        <p:txBody>
          <a:bodyPr>
            <a:normAutofit fontScale="90000"/>
          </a:bodyPr>
          <a:lstStyle/>
          <a:p>
            <a:r>
              <a:rPr lang="en-US" sz="2700" b="1" dirty="0"/>
              <a:t>3. Count the number of orders placed in 2017.</a:t>
            </a:r>
            <a:br>
              <a:rPr lang="en-IN" dirty="0"/>
            </a:br>
            <a:endParaRPr lang="en-IN" dirty="0"/>
          </a:p>
        </p:txBody>
      </p:sp>
      <p:pic>
        <p:nvPicPr>
          <p:cNvPr id="4" name="Content Placeholder 3">
            <a:extLst>
              <a:ext uri="{FF2B5EF4-FFF2-40B4-BE49-F238E27FC236}">
                <a16:creationId xmlns:a16="http://schemas.microsoft.com/office/drawing/2014/main" id="{8223DE94-604F-54C2-3B79-6CA470C62679}"/>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r="72459" b="22680"/>
          <a:stretch>
            <a:fillRect/>
          </a:stretch>
        </p:blipFill>
        <p:spPr bwMode="auto">
          <a:xfrm>
            <a:off x="632300" y="3429001"/>
            <a:ext cx="4105070" cy="2303600"/>
          </a:xfrm>
          <a:prstGeom prst="rect">
            <a:avLst/>
          </a:prstGeom>
          <a:ln>
            <a:solidFill>
              <a:schemeClr val="tx1"/>
            </a:solid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F1857152-5AA9-9AF4-B44C-9F74F7C7A6F0}"/>
              </a:ext>
            </a:extLst>
          </p:cNvPr>
          <p:cNvSpPr txBox="1"/>
          <p:nvPr/>
        </p:nvSpPr>
        <p:spPr>
          <a:xfrm>
            <a:off x="632299" y="5897957"/>
            <a:ext cx="9873916" cy="830997"/>
          </a:xfrm>
          <a:prstGeom prst="rect">
            <a:avLst/>
          </a:prstGeom>
          <a:noFill/>
          <a:ln>
            <a:solidFill>
              <a:schemeClr val="tx1"/>
            </a:solidFill>
          </a:ln>
        </p:spPr>
        <p:txBody>
          <a:bodyPr wrap="square" rtlCol="0">
            <a:spAutoFit/>
          </a:bodyPr>
          <a:lstStyle/>
          <a:p>
            <a:r>
              <a:rPr lang="en-IN" sz="2400" b="1" dirty="0"/>
              <a:t>Insight</a:t>
            </a:r>
            <a:r>
              <a:rPr lang="en-IN" sz="2400" dirty="0"/>
              <a:t>: We received 45,101 orders in 2017. We can use this number to set our sales targets for next year</a:t>
            </a:r>
          </a:p>
        </p:txBody>
      </p:sp>
      <p:pic>
        <p:nvPicPr>
          <p:cNvPr id="8" name="Picture 7">
            <a:extLst>
              <a:ext uri="{FF2B5EF4-FFF2-40B4-BE49-F238E27FC236}">
                <a16:creationId xmlns:a16="http://schemas.microsoft.com/office/drawing/2014/main" id="{DD2063AE-D5C3-27E1-311A-B795ED6DE74D}"/>
              </a:ext>
            </a:extLst>
          </p:cNvPr>
          <p:cNvPicPr>
            <a:picLocks noChangeAspect="1"/>
          </p:cNvPicPr>
          <p:nvPr/>
        </p:nvPicPr>
        <p:blipFill>
          <a:blip r:embed="rId3"/>
          <a:stretch>
            <a:fillRect/>
          </a:stretch>
        </p:blipFill>
        <p:spPr>
          <a:xfrm>
            <a:off x="544748" y="951419"/>
            <a:ext cx="4192621" cy="1615580"/>
          </a:xfrm>
          <a:prstGeom prst="rect">
            <a:avLst/>
          </a:prstGeom>
          <a:ln>
            <a:solidFill>
              <a:schemeClr val="tx1"/>
            </a:solidFill>
          </a:ln>
        </p:spPr>
      </p:pic>
      <p:pic>
        <p:nvPicPr>
          <p:cNvPr id="12" name="Picture 11">
            <a:extLst>
              <a:ext uri="{FF2B5EF4-FFF2-40B4-BE49-F238E27FC236}">
                <a16:creationId xmlns:a16="http://schemas.microsoft.com/office/drawing/2014/main" id="{14BB6735-8F0A-6499-6927-0DB3AF6EBAE4}"/>
              </a:ext>
            </a:extLst>
          </p:cNvPr>
          <p:cNvPicPr>
            <a:picLocks noChangeAspect="1"/>
          </p:cNvPicPr>
          <p:nvPr/>
        </p:nvPicPr>
        <p:blipFill>
          <a:blip r:embed="rId4"/>
          <a:stretch>
            <a:fillRect/>
          </a:stretch>
        </p:blipFill>
        <p:spPr>
          <a:xfrm>
            <a:off x="5875504" y="951419"/>
            <a:ext cx="4630709" cy="1615580"/>
          </a:xfrm>
          <a:prstGeom prst="rect">
            <a:avLst/>
          </a:prstGeom>
          <a:ln>
            <a:solidFill>
              <a:schemeClr val="tx1"/>
            </a:solidFill>
          </a:ln>
        </p:spPr>
      </p:pic>
      <p:pic>
        <p:nvPicPr>
          <p:cNvPr id="18" name="Picture 17">
            <a:extLst>
              <a:ext uri="{FF2B5EF4-FFF2-40B4-BE49-F238E27FC236}">
                <a16:creationId xmlns:a16="http://schemas.microsoft.com/office/drawing/2014/main" id="{8986F810-3649-B12C-F0BC-4164B53E3B20}"/>
              </a:ext>
            </a:extLst>
          </p:cNvPr>
          <p:cNvPicPr>
            <a:picLocks noChangeAspect="1"/>
          </p:cNvPicPr>
          <p:nvPr/>
        </p:nvPicPr>
        <p:blipFill>
          <a:blip r:embed="rId5"/>
          <a:stretch>
            <a:fillRect/>
          </a:stretch>
        </p:blipFill>
        <p:spPr>
          <a:xfrm>
            <a:off x="5875505" y="3429000"/>
            <a:ext cx="4630709" cy="2303601"/>
          </a:xfrm>
          <a:prstGeom prst="rect">
            <a:avLst/>
          </a:prstGeom>
          <a:ln>
            <a:solidFill>
              <a:schemeClr val="tx1"/>
            </a:solidFill>
          </a:ln>
        </p:spPr>
      </p:pic>
    </p:spTree>
    <p:extLst>
      <p:ext uri="{BB962C8B-B14F-4D97-AF65-F5344CB8AC3E}">
        <p14:creationId xmlns:p14="http://schemas.microsoft.com/office/powerpoint/2010/main" val="3961608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94853-34B6-859A-3890-FA2DA895B3A0}"/>
              </a:ext>
            </a:extLst>
          </p:cNvPr>
          <p:cNvSpPr>
            <a:spLocks noGrp="1"/>
          </p:cNvSpPr>
          <p:nvPr>
            <p:ph type="title"/>
          </p:nvPr>
        </p:nvSpPr>
        <p:spPr>
          <a:xfrm>
            <a:off x="525294" y="280529"/>
            <a:ext cx="10722989" cy="838522"/>
          </a:xfrm>
        </p:spPr>
        <p:txBody>
          <a:bodyPr>
            <a:normAutofit fontScale="90000"/>
          </a:bodyPr>
          <a:lstStyle/>
          <a:p>
            <a:r>
              <a:rPr lang="en-US" sz="2700" b="1" dirty="0"/>
              <a:t>4. Calculate the percentage of orders that were paid in installments. </a:t>
            </a:r>
            <a:br>
              <a:rPr lang="en-IN" sz="2800" dirty="0"/>
            </a:br>
            <a:endParaRPr lang="en-IN" sz="2800" dirty="0"/>
          </a:p>
        </p:txBody>
      </p:sp>
      <p:sp>
        <p:nvSpPr>
          <p:cNvPr id="5" name="TextBox 4">
            <a:extLst>
              <a:ext uri="{FF2B5EF4-FFF2-40B4-BE49-F238E27FC236}">
                <a16:creationId xmlns:a16="http://schemas.microsoft.com/office/drawing/2014/main" id="{9691AB56-BC90-8FC1-1A1A-5F2D7F0B90FD}"/>
              </a:ext>
            </a:extLst>
          </p:cNvPr>
          <p:cNvSpPr txBox="1"/>
          <p:nvPr/>
        </p:nvSpPr>
        <p:spPr>
          <a:xfrm>
            <a:off x="525294" y="6137434"/>
            <a:ext cx="9618335" cy="646331"/>
          </a:xfrm>
          <a:prstGeom prst="rect">
            <a:avLst/>
          </a:prstGeom>
          <a:noFill/>
          <a:ln>
            <a:solidFill>
              <a:schemeClr val="tx1"/>
            </a:solidFill>
          </a:ln>
        </p:spPr>
        <p:txBody>
          <a:bodyPr wrap="square" rtlCol="0">
            <a:spAutoFit/>
          </a:bodyPr>
          <a:lstStyle/>
          <a:p>
            <a:r>
              <a:rPr lang="en-IN" b="1" dirty="0"/>
              <a:t>Insight</a:t>
            </a:r>
            <a:r>
              <a:rPr lang="en-IN" dirty="0"/>
              <a:t>: Around 51% of customers choose to pay in installments. Keeping this </a:t>
            </a:r>
            <a:r>
              <a:rPr lang="en-IN" b="1" baseline="30000" dirty="0"/>
              <a:t> </a:t>
            </a:r>
            <a:r>
              <a:rPr lang="en-IN" dirty="0"/>
              <a:t>payment option is extremely important to avoid losing sales. </a:t>
            </a:r>
          </a:p>
        </p:txBody>
      </p:sp>
      <p:pic>
        <p:nvPicPr>
          <p:cNvPr id="6" name="Content Placeholder 5">
            <a:extLst>
              <a:ext uri="{FF2B5EF4-FFF2-40B4-BE49-F238E27FC236}">
                <a16:creationId xmlns:a16="http://schemas.microsoft.com/office/drawing/2014/main" id="{0AA8AE7D-718D-C18D-FF6E-A1CAB7D71C91}"/>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r="53632"/>
          <a:stretch>
            <a:fillRect/>
          </a:stretch>
        </p:blipFill>
        <p:spPr bwMode="auto">
          <a:xfrm>
            <a:off x="525294" y="3428999"/>
            <a:ext cx="4501588" cy="2385358"/>
          </a:xfrm>
          <a:prstGeom prst="rect">
            <a:avLst/>
          </a:prstGeom>
          <a:ln>
            <a:solidFill>
              <a:schemeClr val="tx1"/>
            </a:solidFill>
          </a:ln>
          <a:extLst>
            <a:ext uri="{53640926-AAD7-44D8-BBD7-CCE9431645EC}">
              <a14:shadowObscured xmlns:a14="http://schemas.microsoft.com/office/drawing/2010/main"/>
            </a:ext>
          </a:extLst>
        </p:spPr>
      </p:pic>
      <p:pic>
        <p:nvPicPr>
          <p:cNvPr id="7" name="Content Placeholder 6">
            <a:extLst>
              <a:ext uri="{FF2B5EF4-FFF2-40B4-BE49-F238E27FC236}">
                <a16:creationId xmlns:a16="http://schemas.microsoft.com/office/drawing/2014/main" id="{CC656019-A50A-F402-145F-2B4E3B833B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505854" y="3400645"/>
            <a:ext cx="4501590" cy="2413712"/>
          </a:xfrm>
          <a:prstGeom prst="rect">
            <a:avLst/>
          </a:prstGeom>
          <a:noFill/>
          <a:ln>
            <a:solidFill>
              <a:schemeClr val="tx1"/>
            </a:solidFill>
          </a:ln>
        </p:spPr>
      </p:pic>
      <p:pic>
        <p:nvPicPr>
          <p:cNvPr id="4" name="Picture 3">
            <a:extLst>
              <a:ext uri="{FF2B5EF4-FFF2-40B4-BE49-F238E27FC236}">
                <a16:creationId xmlns:a16="http://schemas.microsoft.com/office/drawing/2014/main" id="{B5204930-2209-513D-6ACB-A2ED00E71FA2}"/>
              </a:ext>
            </a:extLst>
          </p:cNvPr>
          <p:cNvPicPr>
            <a:picLocks noChangeAspect="1"/>
          </p:cNvPicPr>
          <p:nvPr/>
        </p:nvPicPr>
        <p:blipFill>
          <a:blip r:embed="rId4"/>
          <a:stretch>
            <a:fillRect/>
          </a:stretch>
        </p:blipFill>
        <p:spPr>
          <a:xfrm>
            <a:off x="5505855" y="892460"/>
            <a:ext cx="4501589" cy="2288486"/>
          </a:xfrm>
          <a:prstGeom prst="rect">
            <a:avLst/>
          </a:prstGeom>
          <a:ln>
            <a:solidFill>
              <a:schemeClr val="tx1"/>
            </a:solidFill>
          </a:ln>
        </p:spPr>
      </p:pic>
      <p:pic>
        <p:nvPicPr>
          <p:cNvPr id="8" name="Picture 7">
            <a:extLst>
              <a:ext uri="{FF2B5EF4-FFF2-40B4-BE49-F238E27FC236}">
                <a16:creationId xmlns:a16="http://schemas.microsoft.com/office/drawing/2014/main" id="{382377BC-ECDD-F06F-3E58-AD2C64DF40A2}"/>
              </a:ext>
            </a:extLst>
          </p:cNvPr>
          <p:cNvPicPr>
            <a:picLocks noChangeAspect="1"/>
          </p:cNvPicPr>
          <p:nvPr/>
        </p:nvPicPr>
        <p:blipFill>
          <a:blip r:embed="rId5"/>
          <a:stretch>
            <a:fillRect/>
          </a:stretch>
        </p:blipFill>
        <p:spPr>
          <a:xfrm>
            <a:off x="525294" y="889286"/>
            <a:ext cx="4550225" cy="2288486"/>
          </a:xfrm>
          <a:prstGeom prst="rect">
            <a:avLst/>
          </a:prstGeom>
          <a:ln>
            <a:solidFill>
              <a:schemeClr val="tx1"/>
            </a:solidFill>
          </a:ln>
        </p:spPr>
      </p:pic>
    </p:spTree>
    <p:extLst>
      <p:ext uri="{BB962C8B-B14F-4D97-AF65-F5344CB8AC3E}">
        <p14:creationId xmlns:p14="http://schemas.microsoft.com/office/powerpoint/2010/main" val="345162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D429B-E0E3-B5EE-BF79-CE1DA37299D9}"/>
              </a:ext>
            </a:extLst>
          </p:cNvPr>
          <p:cNvSpPr>
            <a:spLocks noGrp="1"/>
          </p:cNvSpPr>
          <p:nvPr>
            <p:ph type="title"/>
          </p:nvPr>
        </p:nvSpPr>
        <p:spPr>
          <a:xfrm>
            <a:off x="544749" y="400026"/>
            <a:ext cx="10809051" cy="485191"/>
          </a:xfrm>
        </p:spPr>
        <p:txBody>
          <a:bodyPr>
            <a:normAutofit fontScale="90000"/>
          </a:bodyPr>
          <a:lstStyle/>
          <a:p>
            <a:r>
              <a:rPr lang="en-US" sz="2400" b="1" dirty="0"/>
              <a:t>5. Count the number of customers from each state</a:t>
            </a:r>
            <a:br>
              <a:rPr lang="en-IN" dirty="0"/>
            </a:br>
            <a:endParaRPr lang="en-IN" dirty="0"/>
          </a:p>
        </p:txBody>
      </p:sp>
      <p:sp>
        <p:nvSpPr>
          <p:cNvPr id="7" name="TextBox 6">
            <a:extLst>
              <a:ext uri="{FF2B5EF4-FFF2-40B4-BE49-F238E27FC236}">
                <a16:creationId xmlns:a16="http://schemas.microsoft.com/office/drawing/2014/main" id="{794DA0CC-BA8F-4AD4-D070-537461EEBCF2}"/>
              </a:ext>
            </a:extLst>
          </p:cNvPr>
          <p:cNvSpPr txBox="1"/>
          <p:nvPr/>
        </p:nvSpPr>
        <p:spPr>
          <a:xfrm>
            <a:off x="651754" y="5866540"/>
            <a:ext cx="10311318" cy="646331"/>
          </a:xfrm>
          <a:prstGeom prst="rect">
            <a:avLst/>
          </a:prstGeom>
          <a:noFill/>
          <a:ln>
            <a:solidFill>
              <a:schemeClr val="tx1"/>
            </a:solidFill>
          </a:ln>
        </p:spPr>
        <p:txBody>
          <a:bodyPr wrap="square" rtlCol="0">
            <a:spAutoFit/>
          </a:bodyPr>
          <a:lstStyle/>
          <a:p>
            <a:r>
              <a:rPr lang="en-IN" b="1" dirty="0"/>
              <a:t>Insight</a:t>
            </a:r>
            <a:r>
              <a:rPr lang="en-IN" dirty="0"/>
              <a:t>: The state of Sao Paulo has the most customers by a huge margin. We are very  strong in this region compared to others. </a:t>
            </a:r>
          </a:p>
        </p:txBody>
      </p:sp>
      <p:pic>
        <p:nvPicPr>
          <p:cNvPr id="3074" name="Picture 2">
            <a:extLst>
              <a:ext uri="{FF2B5EF4-FFF2-40B4-BE49-F238E27FC236}">
                <a16:creationId xmlns:a16="http://schemas.microsoft.com/office/drawing/2014/main" id="{591F135F-FAA3-CF85-94C9-9DB227D53C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404" y="3169899"/>
            <a:ext cx="5232668" cy="233656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EFA995A-AAF8-86CE-109D-8D61D55E72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0403" y="875274"/>
            <a:ext cx="5232669" cy="1994385"/>
          </a:xfrm>
          <a:prstGeom prst="rect">
            <a:avLst/>
          </a:prstGeom>
          <a:ln>
            <a:solidFill>
              <a:schemeClr val="tx1"/>
            </a:solidFill>
          </a:ln>
        </p:spPr>
      </p:pic>
      <p:pic>
        <p:nvPicPr>
          <p:cNvPr id="15" name="Content Placeholder 14">
            <a:extLst>
              <a:ext uri="{FF2B5EF4-FFF2-40B4-BE49-F238E27FC236}">
                <a16:creationId xmlns:a16="http://schemas.microsoft.com/office/drawing/2014/main" id="{D85B2D98-F462-95DA-6D04-BF5BDEDCEF5B}"/>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673021" y="3039176"/>
            <a:ext cx="4027251" cy="2467284"/>
          </a:xfrm>
          <a:prstGeom prst="rect">
            <a:avLst/>
          </a:prstGeom>
          <a:ln>
            <a:solidFill>
              <a:schemeClr val="tx1"/>
            </a:solidFill>
          </a:ln>
        </p:spPr>
      </p:pic>
      <p:pic>
        <p:nvPicPr>
          <p:cNvPr id="17" name="Picture 16">
            <a:extLst>
              <a:ext uri="{FF2B5EF4-FFF2-40B4-BE49-F238E27FC236}">
                <a16:creationId xmlns:a16="http://schemas.microsoft.com/office/drawing/2014/main" id="{8B41F66C-382B-BB3E-3C0D-23F2D3F963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754" y="875274"/>
            <a:ext cx="4048519" cy="1994385"/>
          </a:xfrm>
          <a:prstGeom prst="rect">
            <a:avLst/>
          </a:prstGeom>
          <a:ln>
            <a:solidFill>
              <a:schemeClr val="tx1"/>
            </a:solidFill>
          </a:ln>
        </p:spPr>
      </p:pic>
    </p:spTree>
    <p:extLst>
      <p:ext uri="{BB962C8B-B14F-4D97-AF65-F5344CB8AC3E}">
        <p14:creationId xmlns:p14="http://schemas.microsoft.com/office/powerpoint/2010/main" val="388992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3720-AB65-06AC-165B-F1656F8955DE}"/>
              </a:ext>
            </a:extLst>
          </p:cNvPr>
          <p:cNvSpPr>
            <a:spLocks noGrp="1"/>
          </p:cNvSpPr>
          <p:nvPr>
            <p:ph type="title"/>
          </p:nvPr>
        </p:nvSpPr>
        <p:spPr>
          <a:xfrm>
            <a:off x="525295" y="145915"/>
            <a:ext cx="10828506" cy="778213"/>
          </a:xfrm>
        </p:spPr>
        <p:txBody>
          <a:bodyPr>
            <a:normAutofit/>
          </a:bodyPr>
          <a:lstStyle/>
          <a:p>
            <a:r>
              <a:rPr lang="en-IN" sz="2400" b="1" dirty="0"/>
              <a:t>6. Calculate the number orders per month in 2018</a:t>
            </a:r>
            <a:endParaRPr lang="en-IN" sz="2400" dirty="0"/>
          </a:p>
        </p:txBody>
      </p:sp>
      <p:sp>
        <p:nvSpPr>
          <p:cNvPr id="4" name="Content Placeholder 3">
            <a:extLst>
              <a:ext uri="{FF2B5EF4-FFF2-40B4-BE49-F238E27FC236}">
                <a16:creationId xmlns:a16="http://schemas.microsoft.com/office/drawing/2014/main" id="{8A005CAE-74EA-DED0-5B01-5E61D7A5AB20}"/>
              </a:ext>
            </a:extLst>
          </p:cNvPr>
          <p:cNvSpPr>
            <a:spLocks noGrp="1"/>
          </p:cNvSpPr>
          <p:nvPr>
            <p:ph sz="half" idx="2"/>
          </p:nvPr>
        </p:nvSpPr>
        <p:spPr>
          <a:xfrm>
            <a:off x="525295" y="5820334"/>
            <a:ext cx="10301592" cy="936747"/>
          </a:xfrm>
          <a:ln>
            <a:solidFill>
              <a:schemeClr val="tx1"/>
            </a:solidFill>
          </a:ln>
        </p:spPr>
        <p:txBody>
          <a:bodyPr>
            <a:normAutofit/>
          </a:bodyPr>
          <a:lstStyle/>
          <a:p>
            <a:pPr marL="0" indent="0">
              <a:buNone/>
            </a:pPr>
            <a:r>
              <a:rPr lang="en-IN" sz="2000" b="1" dirty="0"/>
              <a:t>Insight</a:t>
            </a:r>
            <a:r>
              <a:rPr lang="en-IN" sz="2000" dirty="0"/>
              <a:t>: Orders were very steady (around 6,000 to 7,000 a month) until August. The sudden drop in September and October is likely just incomplete data, not a real drop in sales. </a:t>
            </a:r>
          </a:p>
        </p:txBody>
      </p:sp>
      <p:pic>
        <p:nvPicPr>
          <p:cNvPr id="5" name="Content Placeholder 4">
            <a:extLst>
              <a:ext uri="{FF2B5EF4-FFF2-40B4-BE49-F238E27FC236}">
                <a16:creationId xmlns:a16="http://schemas.microsoft.com/office/drawing/2014/main" id="{7D598357-5772-6EB1-526C-426AAAA3483B}"/>
              </a:ext>
            </a:extLst>
          </p:cNvPr>
          <p:cNvPicPr>
            <a:picLocks noGrp="1"/>
          </p:cNvPicPr>
          <p:nvPr>
            <p:ph sz="half" idx="1"/>
          </p:nvPr>
        </p:nvPicPr>
        <p:blipFill>
          <a:blip r:embed="rId2"/>
          <a:stretch>
            <a:fillRect/>
          </a:stretch>
        </p:blipFill>
        <p:spPr>
          <a:xfrm>
            <a:off x="525295" y="3083226"/>
            <a:ext cx="4075888" cy="2534863"/>
          </a:xfrm>
          <a:prstGeom prst="rect">
            <a:avLst/>
          </a:prstGeom>
          <a:ln>
            <a:solidFill>
              <a:schemeClr val="tx1"/>
            </a:solidFill>
          </a:ln>
        </p:spPr>
      </p:pic>
      <p:pic>
        <p:nvPicPr>
          <p:cNvPr id="7" name="Picture 6">
            <a:extLst>
              <a:ext uri="{FF2B5EF4-FFF2-40B4-BE49-F238E27FC236}">
                <a16:creationId xmlns:a16="http://schemas.microsoft.com/office/drawing/2014/main" id="{ABB1BE29-9166-089F-7B24-F5B3EE8F31D0}"/>
              </a:ext>
            </a:extLst>
          </p:cNvPr>
          <p:cNvPicPr>
            <a:picLocks noChangeAspect="1"/>
          </p:cNvPicPr>
          <p:nvPr/>
        </p:nvPicPr>
        <p:blipFill>
          <a:blip r:embed="rId3"/>
          <a:stretch>
            <a:fillRect/>
          </a:stretch>
        </p:blipFill>
        <p:spPr>
          <a:xfrm>
            <a:off x="6244076" y="850373"/>
            <a:ext cx="4582812" cy="1937326"/>
          </a:xfrm>
          <a:prstGeom prst="rect">
            <a:avLst/>
          </a:prstGeom>
          <a:ln>
            <a:solidFill>
              <a:schemeClr val="tx1"/>
            </a:solidFill>
          </a:ln>
        </p:spPr>
      </p:pic>
      <p:pic>
        <p:nvPicPr>
          <p:cNvPr id="9" name="Picture 8">
            <a:extLst>
              <a:ext uri="{FF2B5EF4-FFF2-40B4-BE49-F238E27FC236}">
                <a16:creationId xmlns:a16="http://schemas.microsoft.com/office/drawing/2014/main" id="{6AE553A6-E601-B455-A36C-BD1D2939AFF2}"/>
              </a:ext>
            </a:extLst>
          </p:cNvPr>
          <p:cNvPicPr>
            <a:picLocks noChangeAspect="1"/>
          </p:cNvPicPr>
          <p:nvPr/>
        </p:nvPicPr>
        <p:blipFill>
          <a:blip r:embed="rId4"/>
          <a:stretch>
            <a:fillRect/>
          </a:stretch>
        </p:blipFill>
        <p:spPr>
          <a:xfrm>
            <a:off x="525295" y="850373"/>
            <a:ext cx="4075888" cy="1937326"/>
          </a:xfrm>
          <a:prstGeom prst="rect">
            <a:avLst/>
          </a:prstGeom>
          <a:ln>
            <a:solidFill>
              <a:schemeClr val="tx1"/>
            </a:solidFill>
          </a:ln>
        </p:spPr>
      </p:pic>
      <p:pic>
        <p:nvPicPr>
          <p:cNvPr id="1028" name="Picture 4">
            <a:extLst>
              <a:ext uri="{FF2B5EF4-FFF2-40B4-BE49-F238E27FC236}">
                <a16:creationId xmlns:a16="http://schemas.microsoft.com/office/drawing/2014/main" id="{556A4FCF-5BBB-57C4-5B55-E645587CF2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4075" y="2947275"/>
            <a:ext cx="4582811" cy="267081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436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46FA-0869-2D25-07D1-18E00411884D}"/>
              </a:ext>
            </a:extLst>
          </p:cNvPr>
          <p:cNvSpPr>
            <a:spLocks noGrp="1"/>
          </p:cNvSpPr>
          <p:nvPr>
            <p:ph type="title"/>
          </p:nvPr>
        </p:nvSpPr>
        <p:spPr>
          <a:xfrm>
            <a:off x="544749" y="199757"/>
            <a:ext cx="10838234" cy="850830"/>
          </a:xfrm>
        </p:spPr>
        <p:txBody>
          <a:bodyPr>
            <a:normAutofit fontScale="90000"/>
          </a:bodyPr>
          <a:lstStyle/>
          <a:p>
            <a:r>
              <a:rPr lang="en-IN" sz="2700" b="1" dirty="0"/>
              <a:t>7. Find the average number of products per order, grouped by customer city.  </a:t>
            </a:r>
            <a:br>
              <a:rPr lang="en-IN" dirty="0"/>
            </a:br>
            <a:endParaRPr lang="en-IN" dirty="0"/>
          </a:p>
        </p:txBody>
      </p:sp>
      <p:pic>
        <p:nvPicPr>
          <p:cNvPr id="5" name="Content Placeholder 4">
            <a:extLst>
              <a:ext uri="{FF2B5EF4-FFF2-40B4-BE49-F238E27FC236}">
                <a16:creationId xmlns:a16="http://schemas.microsoft.com/office/drawing/2014/main" id="{37A48DD9-76AC-0640-2808-D7949B917433}"/>
              </a:ext>
            </a:extLst>
          </p:cNvPr>
          <p:cNvPicPr>
            <a:picLocks noGrp="1"/>
          </p:cNvPicPr>
          <p:nvPr>
            <p:ph sz="half" idx="1"/>
          </p:nvPr>
        </p:nvPicPr>
        <p:blipFill>
          <a:blip r:embed="rId2"/>
          <a:srcRect l="1772"/>
          <a:stretch>
            <a:fillRect/>
          </a:stretch>
        </p:blipFill>
        <p:spPr>
          <a:xfrm>
            <a:off x="676697" y="3246307"/>
            <a:ext cx="3807754" cy="2561106"/>
          </a:xfrm>
          <a:prstGeom prst="rect">
            <a:avLst/>
          </a:prstGeom>
          <a:ln>
            <a:solidFill>
              <a:schemeClr val="tx1"/>
            </a:solidFill>
          </a:ln>
        </p:spPr>
      </p:pic>
      <p:pic>
        <p:nvPicPr>
          <p:cNvPr id="6" name="Picture 5">
            <a:extLst>
              <a:ext uri="{FF2B5EF4-FFF2-40B4-BE49-F238E27FC236}">
                <a16:creationId xmlns:a16="http://schemas.microsoft.com/office/drawing/2014/main" id="{7C7EDCCD-E19C-F636-FF65-0F07A5F0FD07}"/>
              </a:ext>
            </a:extLst>
          </p:cNvPr>
          <p:cNvPicPr/>
          <p:nvPr/>
        </p:nvPicPr>
        <p:blipFill>
          <a:blip r:embed="rId3"/>
          <a:stretch>
            <a:fillRect/>
          </a:stretch>
        </p:blipFill>
        <p:spPr>
          <a:xfrm>
            <a:off x="5132528" y="3227621"/>
            <a:ext cx="5801361" cy="2561106"/>
          </a:xfrm>
          <a:prstGeom prst="rect">
            <a:avLst/>
          </a:prstGeom>
          <a:ln>
            <a:solidFill>
              <a:schemeClr val="tx1"/>
            </a:solidFill>
          </a:ln>
        </p:spPr>
      </p:pic>
      <p:sp>
        <p:nvSpPr>
          <p:cNvPr id="7" name="TextBox 6">
            <a:extLst>
              <a:ext uri="{FF2B5EF4-FFF2-40B4-BE49-F238E27FC236}">
                <a16:creationId xmlns:a16="http://schemas.microsoft.com/office/drawing/2014/main" id="{68A6F51E-58AB-3C6B-24A9-306947B6F925}"/>
              </a:ext>
            </a:extLst>
          </p:cNvPr>
          <p:cNvSpPr txBox="1"/>
          <p:nvPr/>
        </p:nvSpPr>
        <p:spPr>
          <a:xfrm>
            <a:off x="676697" y="6025688"/>
            <a:ext cx="10257192" cy="707886"/>
          </a:xfrm>
          <a:prstGeom prst="rect">
            <a:avLst/>
          </a:prstGeom>
          <a:noFill/>
          <a:ln>
            <a:solidFill>
              <a:schemeClr val="tx1"/>
            </a:solidFill>
          </a:ln>
        </p:spPr>
        <p:txBody>
          <a:bodyPr wrap="square" rtlCol="0">
            <a:spAutoFit/>
          </a:bodyPr>
          <a:lstStyle/>
          <a:p>
            <a:r>
              <a:rPr lang="en-IN" sz="2000" b="1" dirty="0"/>
              <a:t>Insight</a:t>
            </a:r>
            <a:r>
              <a:rPr lang="en-IN" sz="2000" dirty="0"/>
              <a:t>: Customers in some smaller cities buy many items at once (an average of 7 items per order). These might be wholesale buyers or small businesses.</a:t>
            </a:r>
          </a:p>
        </p:txBody>
      </p:sp>
      <p:pic>
        <p:nvPicPr>
          <p:cNvPr id="4" name="Picture 3">
            <a:extLst>
              <a:ext uri="{FF2B5EF4-FFF2-40B4-BE49-F238E27FC236}">
                <a16:creationId xmlns:a16="http://schemas.microsoft.com/office/drawing/2014/main" id="{24C55F49-8654-78A1-4A7B-A7CED1BA05AA}"/>
              </a:ext>
            </a:extLst>
          </p:cNvPr>
          <p:cNvPicPr>
            <a:picLocks noChangeAspect="1"/>
          </p:cNvPicPr>
          <p:nvPr/>
        </p:nvPicPr>
        <p:blipFill>
          <a:blip r:embed="rId4"/>
          <a:stretch>
            <a:fillRect/>
          </a:stretch>
        </p:blipFill>
        <p:spPr>
          <a:xfrm>
            <a:off x="5132528" y="921025"/>
            <a:ext cx="5801361" cy="1812447"/>
          </a:xfrm>
          <a:prstGeom prst="rect">
            <a:avLst/>
          </a:prstGeom>
          <a:ln>
            <a:solidFill>
              <a:schemeClr val="tx1"/>
            </a:solidFill>
          </a:ln>
        </p:spPr>
      </p:pic>
      <p:pic>
        <p:nvPicPr>
          <p:cNvPr id="9" name="Picture 8">
            <a:extLst>
              <a:ext uri="{FF2B5EF4-FFF2-40B4-BE49-F238E27FC236}">
                <a16:creationId xmlns:a16="http://schemas.microsoft.com/office/drawing/2014/main" id="{E345D752-5031-DF26-F81A-6ACE5F36762F}"/>
              </a:ext>
            </a:extLst>
          </p:cNvPr>
          <p:cNvPicPr>
            <a:picLocks noChangeAspect="1"/>
          </p:cNvPicPr>
          <p:nvPr/>
        </p:nvPicPr>
        <p:blipFill>
          <a:blip r:embed="rId5"/>
          <a:stretch>
            <a:fillRect/>
          </a:stretch>
        </p:blipFill>
        <p:spPr>
          <a:xfrm>
            <a:off x="676697" y="921025"/>
            <a:ext cx="3885575" cy="1812447"/>
          </a:xfrm>
          <a:prstGeom prst="rect">
            <a:avLst/>
          </a:prstGeom>
          <a:ln>
            <a:solidFill>
              <a:schemeClr val="tx1"/>
            </a:solidFill>
          </a:ln>
        </p:spPr>
      </p:pic>
    </p:spTree>
    <p:extLst>
      <p:ext uri="{BB962C8B-B14F-4D97-AF65-F5344CB8AC3E}">
        <p14:creationId xmlns:p14="http://schemas.microsoft.com/office/powerpoint/2010/main" val="735338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1CEC-63A8-9260-8783-DAAA65FFED43}"/>
              </a:ext>
            </a:extLst>
          </p:cNvPr>
          <p:cNvSpPr>
            <a:spLocks noGrp="1"/>
          </p:cNvSpPr>
          <p:nvPr>
            <p:ph type="title"/>
          </p:nvPr>
        </p:nvSpPr>
        <p:spPr>
          <a:xfrm>
            <a:off x="535021" y="89782"/>
            <a:ext cx="10818779" cy="432541"/>
          </a:xfrm>
        </p:spPr>
        <p:txBody>
          <a:bodyPr>
            <a:normAutofit/>
          </a:bodyPr>
          <a:lstStyle/>
          <a:p>
            <a:r>
              <a:rPr lang="en-US" sz="2400" dirty="0">
                <a:latin typeface="+mn-lt"/>
              </a:rPr>
              <a:t>8. Calculate the percentage of total revenue contributed by each product category. </a:t>
            </a:r>
            <a:endParaRPr lang="en-IN" sz="2400" dirty="0">
              <a:latin typeface="+mn-lt"/>
            </a:endParaRPr>
          </a:p>
        </p:txBody>
      </p:sp>
      <p:pic>
        <p:nvPicPr>
          <p:cNvPr id="7" name="Content Placeholder 6">
            <a:extLst>
              <a:ext uri="{FF2B5EF4-FFF2-40B4-BE49-F238E27FC236}">
                <a16:creationId xmlns:a16="http://schemas.microsoft.com/office/drawing/2014/main" id="{2DC6E0A1-A518-B017-E1B3-DB560A7EAE8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r="53610"/>
          <a:stretch>
            <a:fillRect/>
          </a:stretch>
        </p:blipFill>
        <p:spPr>
          <a:xfrm>
            <a:off x="462226" y="3073940"/>
            <a:ext cx="4275145" cy="2680563"/>
          </a:xfrm>
          <a:prstGeom prst="rect">
            <a:avLst/>
          </a:prstGeom>
          <a:ln>
            <a:solidFill>
              <a:schemeClr val="tx1"/>
            </a:solidFill>
          </a:ln>
        </p:spPr>
      </p:pic>
      <p:sp>
        <p:nvSpPr>
          <p:cNvPr id="5" name="TextBox 4">
            <a:extLst>
              <a:ext uri="{FF2B5EF4-FFF2-40B4-BE49-F238E27FC236}">
                <a16:creationId xmlns:a16="http://schemas.microsoft.com/office/drawing/2014/main" id="{5DA022D8-3B09-7159-D335-3E231760325B}"/>
              </a:ext>
            </a:extLst>
          </p:cNvPr>
          <p:cNvSpPr txBox="1"/>
          <p:nvPr/>
        </p:nvSpPr>
        <p:spPr>
          <a:xfrm>
            <a:off x="462226" y="5963055"/>
            <a:ext cx="10629175" cy="707886"/>
          </a:xfrm>
          <a:prstGeom prst="rect">
            <a:avLst/>
          </a:prstGeom>
          <a:noFill/>
          <a:ln>
            <a:solidFill>
              <a:schemeClr val="tx1"/>
            </a:solidFill>
          </a:ln>
        </p:spPr>
        <p:txBody>
          <a:bodyPr wrap="square" rtlCol="0">
            <a:spAutoFit/>
          </a:bodyPr>
          <a:lstStyle/>
          <a:p>
            <a:r>
              <a:rPr lang="en-US" sz="2000" b="1" dirty="0"/>
              <a:t>Insight</a:t>
            </a:r>
            <a:r>
              <a:rPr lang="en-US" sz="2000" dirty="0"/>
              <a:t>: Our sales are nicely balanced across many categories. The top category only makes up 9.26% of revenue, meaning we aren't completely dependent on just one type of product.</a:t>
            </a:r>
            <a:endParaRPr lang="en-IN" sz="2000" dirty="0"/>
          </a:p>
        </p:txBody>
      </p:sp>
      <p:pic>
        <p:nvPicPr>
          <p:cNvPr id="4" name="Picture 3">
            <a:extLst>
              <a:ext uri="{FF2B5EF4-FFF2-40B4-BE49-F238E27FC236}">
                <a16:creationId xmlns:a16="http://schemas.microsoft.com/office/drawing/2014/main" id="{5532CD6A-245F-7E2F-0DB1-F0C40248373A}"/>
              </a:ext>
            </a:extLst>
          </p:cNvPr>
          <p:cNvPicPr>
            <a:picLocks noChangeAspect="1"/>
          </p:cNvPicPr>
          <p:nvPr/>
        </p:nvPicPr>
        <p:blipFill>
          <a:blip r:embed="rId3"/>
          <a:stretch>
            <a:fillRect/>
          </a:stretch>
        </p:blipFill>
        <p:spPr>
          <a:xfrm>
            <a:off x="5311302" y="822688"/>
            <a:ext cx="5780099" cy="1950889"/>
          </a:xfrm>
          <a:prstGeom prst="rect">
            <a:avLst/>
          </a:prstGeom>
          <a:ln>
            <a:solidFill>
              <a:schemeClr val="tx1"/>
            </a:solidFill>
          </a:ln>
        </p:spPr>
      </p:pic>
      <p:pic>
        <p:nvPicPr>
          <p:cNvPr id="8" name="Picture 7">
            <a:extLst>
              <a:ext uri="{FF2B5EF4-FFF2-40B4-BE49-F238E27FC236}">
                <a16:creationId xmlns:a16="http://schemas.microsoft.com/office/drawing/2014/main" id="{33525252-4A2B-02FB-564A-C251262B3E24}"/>
              </a:ext>
            </a:extLst>
          </p:cNvPr>
          <p:cNvPicPr>
            <a:picLocks noChangeAspect="1"/>
          </p:cNvPicPr>
          <p:nvPr/>
        </p:nvPicPr>
        <p:blipFill>
          <a:blip r:embed="rId4"/>
          <a:stretch>
            <a:fillRect/>
          </a:stretch>
        </p:blipFill>
        <p:spPr>
          <a:xfrm>
            <a:off x="462226" y="822687"/>
            <a:ext cx="4275145" cy="1950889"/>
          </a:xfrm>
          <a:prstGeom prst="rect">
            <a:avLst/>
          </a:prstGeom>
          <a:ln>
            <a:solidFill>
              <a:schemeClr val="tx1"/>
            </a:solidFill>
          </a:ln>
        </p:spPr>
      </p:pic>
      <p:pic>
        <p:nvPicPr>
          <p:cNvPr id="4098" name="Picture 2">
            <a:extLst>
              <a:ext uri="{FF2B5EF4-FFF2-40B4-BE49-F238E27FC236}">
                <a16:creationId xmlns:a16="http://schemas.microsoft.com/office/drawing/2014/main" id="{9EB0BBEE-FA29-B966-E5D2-161D8F91B2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1302" y="3073940"/>
            <a:ext cx="5780098" cy="26805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529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F580-C751-72B7-174D-F52CE01689E1}"/>
              </a:ext>
            </a:extLst>
          </p:cNvPr>
          <p:cNvSpPr>
            <a:spLocks noGrp="1"/>
          </p:cNvSpPr>
          <p:nvPr>
            <p:ph type="title"/>
          </p:nvPr>
        </p:nvSpPr>
        <p:spPr>
          <a:xfrm>
            <a:off x="466117" y="-82346"/>
            <a:ext cx="10838234" cy="666005"/>
          </a:xfrm>
        </p:spPr>
        <p:txBody>
          <a:bodyPr>
            <a:normAutofit/>
          </a:bodyPr>
          <a:lstStyle/>
          <a:p>
            <a:r>
              <a:rPr lang="en-IN" sz="2400" b="1" dirty="0"/>
              <a:t>9. Calculate the total revenue generated by each seller, and rank them by revenue. </a:t>
            </a:r>
            <a:endParaRPr lang="en-IN" sz="2400" dirty="0"/>
          </a:p>
        </p:txBody>
      </p:sp>
      <p:sp>
        <p:nvSpPr>
          <p:cNvPr id="8" name="TextBox 7">
            <a:extLst>
              <a:ext uri="{FF2B5EF4-FFF2-40B4-BE49-F238E27FC236}">
                <a16:creationId xmlns:a16="http://schemas.microsoft.com/office/drawing/2014/main" id="{CAF92362-51C3-4944-615D-6C0BDA1D3A95}"/>
              </a:ext>
            </a:extLst>
          </p:cNvPr>
          <p:cNvSpPr txBox="1"/>
          <p:nvPr/>
        </p:nvSpPr>
        <p:spPr>
          <a:xfrm>
            <a:off x="651753" y="5712051"/>
            <a:ext cx="10116764" cy="1107996"/>
          </a:xfrm>
          <a:prstGeom prst="rect">
            <a:avLst/>
          </a:prstGeom>
          <a:noFill/>
          <a:ln>
            <a:solidFill>
              <a:schemeClr val="tx1"/>
            </a:solidFill>
          </a:ln>
        </p:spPr>
        <p:txBody>
          <a:bodyPr wrap="square" rtlCol="0">
            <a:spAutoFit/>
          </a:bodyPr>
          <a:lstStyle/>
          <a:p>
            <a:r>
              <a:rPr lang="en-US" sz="2400" b="1" dirty="0"/>
              <a:t>Insight</a:t>
            </a:r>
            <a:r>
              <a:rPr lang="en-US" sz="2400" dirty="0"/>
              <a:t>: A few top sellers are bringing in the most money. We need to make sure these  top sellers get good support so they don't leave our platform. </a:t>
            </a:r>
          </a:p>
          <a:p>
            <a:endParaRPr lang="en-IN" dirty="0"/>
          </a:p>
        </p:txBody>
      </p:sp>
      <p:pic>
        <p:nvPicPr>
          <p:cNvPr id="4" name="Picture 3">
            <a:extLst>
              <a:ext uri="{FF2B5EF4-FFF2-40B4-BE49-F238E27FC236}">
                <a16:creationId xmlns:a16="http://schemas.microsoft.com/office/drawing/2014/main" id="{3EF7D042-E8A0-4D17-E9B5-FD7AB7B24F2A}"/>
              </a:ext>
            </a:extLst>
          </p:cNvPr>
          <p:cNvPicPr>
            <a:picLocks noChangeAspect="1"/>
          </p:cNvPicPr>
          <p:nvPr/>
        </p:nvPicPr>
        <p:blipFill>
          <a:blip r:embed="rId2"/>
          <a:stretch>
            <a:fillRect/>
          </a:stretch>
        </p:blipFill>
        <p:spPr>
          <a:xfrm>
            <a:off x="651753" y="583659"/>
            <a:ext cx="4377447" cy="2316185"/>
          </a:xfrm>
          <a:prstGeom prst="rect">
            <a:avLst/>
          </a:prstGeom>
          <a:ln>
            <a:solidFill>
              <a:schemeClr val="tx1"/>
            </a:solidFill>
          </a:ln>
        </p:spPr>
      </p:pic>
      <p:pic>
        <p:nvPicPr>
          <p:cNvPr id="10" name="Picture 9">
            <a:extLst>
              <a:ext uri="{FF2B5EF4-FFF2-40B4-BE49-F238E27FC236}">
                <a16:creationId xmlns:a16="http://schemas.microsoft.com/office/drawing/2014/main" id="{CA86B055-8229-8915-D387-0653068B612E}"/>
              </a:ext>
            </a:extLst>
          </p:cNvPr>
          <p:cNvPicPr>
            <a:picLocks noChangeAspect="1"/>
          </p:cNvPicPr>
          <p:nvPr/>
        </p:nvPicPr>
        <p:blipFill>
          <a:blip r:embed="rId3"/>
          <a:stretch>
            <a:fillRect/>
          </a:stretch>
        </p:blipFill>
        <p:spPr>
          <a:xfrm>
            <a:off x="651753" y="3161488"/>
            <a:ext cx="4377447" cy="2316184"/>
          </a:xfrm>
          <a:prstGeom prst="rect">
            <a:avLst/>
          </a:prstGeom>
          <a:ln>
            <a:solidFill>
              <a:schemeClr val="tx1"/>
            </a:solidFill>
          </a:ln>
        </p:spPr>
      </p:pic>
      <p:pic>
        <p:nvPicPr>
          <p:cNvPr id="11" name="Picture 10">
            <a:extLst>
              <a:ext uri="{FF2B5EF4-FFF2-40B4-BE49-F238E27FC236}">
                <a16:creationId xmlns:a16="http://schemas.microsoft.com/office/drawing/2014/main" id="{35AE3951-6BDF-854F-A84E-55E5D84CF9DE}"/>
              </a:ext>
            </a:extLst>
          </p:cNvPr>
          <p:cNvPicPr>
            <a:picLocks noChangeAspect="1"/>
          </p:cNvPicPr>
          <p:nvPr/>
        </p:nvPicPr>
        <p:blipFill>
          <a:blip r:embed="rId4">
            <a:extLst>
              <a:ext uri="{28A0092B-C50C-407E-A947-70E740481C1C}">
                <a14:useLocalDpi xmlns:a14="http://schemas.microsoft.com/office/drawing/2010/main" val="0"/>
              </a:ext>
            </a:extLst>
          </a:blip>
          <a:srcRect t="37536" r="14853"/>
          <a:stretch>
            <a:fillRect/>
          </a:stretch>
        </p:blipFill>
        <p:spPr>
          <a:xfrm>
            <a:off x="5636308" y="3084953"/>
            <a:ext cx="5132207" cy="2392719"/>
          </a:xfrm>
          <a:prstGeom prst="rect">
            <a:avLst/>
          </a:prstGeom>
          <a:ln>
            <a:solidFill>
              <a:schemeClr val="tx1"/>
            </a:solidFill>
          </a:ln>
        </p:spPr>
      </p:pic>
      <p:pic>
        <p:nvPicPr>
          <p:cNvPr id="12" name="Picture 11">
            <a:extLst>
              <a:ext uri="{FF2B5EF4-FFF2-40B4-BE49-F238E27FC236}">
                <a16:creationId xmlns:a16="http://schemas.microsoft.com/office/drawing/2014/main" id="{26708A7C-4E18-0ACD-144F-0B96138A2C90}"/>
              </a:ext>
            </a:extLst>
          </p:cNvPr>
          <p:cNvPicPr>
            <a:picLocks noChangeAspect="1"/>
          </p:cNvPicPr>
          <p:nvPr/>
        </p:nvPicPr>
        <p:blipFill>
          <a:blip r:embed="rId4">
            <a:extLst>
              <a:ext uri="{28A0092B-C50C-407E-A947-70E740481C1C}">
                <a14:useLocalDpi xmlns:a14="http://schemas.microsoft.com/office/drawing/2010/main" val="0"/>
              </a:ext>
            </a:extLst>
          </a:blip>
          <a:srcRect b="62673"/>
          <a:stretch>
            <a:fillRect/>
          </a:stretch>
        </p:blipFill>
        <p:spPr>
          <a:xfrm>
            <a:off x="5636309" y="583658"/>
            <a:ext cx="5132208" cy="2266915"/>
          </a:xfrm>
          <a:prstGeom prst="rect">
            <a:avLst/>
          </a:prstGeom>
          <a:ln>
            <a:solidFill>
              <a:schemeClr val="tx1"/>
            </a:solidFill>
          </a:ln>
        </p:spPr>
      </p:pic>
    </p:spTree>
    <p:extLst>
      <p:ext uri="{BB962C8B-B14F-4D97-AF65-F5344CB8AC3E}">
        <p14:creationId xmlns:p14="http://schemas.microsoft.com/office/powerpoint/2010/main" val="387610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FE445-DAB6-4A34-E1E8-8CBD11C9FF68}"/>
              </a:ext>
            </a:extLst>
          </p:cNvPr>
          <p:cNvSpPr>
            <a:spLocks noGrp="1"/>
          </p:cNvSpPr>
          <p:nvPr>
            <p:ph type="title"/>
          </p:nvPr>
        </p:nvSpPr>
        <p:spPr>
          <a:xfrm>
            <a:off x="525294" y="365127"/>
            <a:ext cx="10828506" cy="923331"/>
          </a:xfrm>
        </p:spPr>
        <p:txBody>
          <a:bodyPr>
            <a:normAutofit fontScale="90000"/>
          </a:bodyPr>
          <a:lstStyle/>
          <a:p>
            <a:r>
              <a:rPr lang="en-IN" sz="2700" b="1" dirty="0"/>
              <a:t>10. Identify the correlation between product price and the number of times a product has been purchased.  </a:t>
            </a:r>
            <a:br>
              <a:rPr lang="en-IN" dirty="0"/>
            </a:br>
            <a:endParaRPr lang="en-IN" dirty="0"/>
          </a:p>
        </p:txBody>
      </p:sp>
      <p:pic>
        <p:nvPicPr>
          <p:cNvPr id="5" name="Content Placeholder 4">
            <a:extLst>
              <a:ext uri="{FF2B5EF4-FFF2-40B4-BE49-F238E27FC236}">
                <a16:creationId xmlns:a16="http://schemas.microsoft.com/office/drawing/2014/main" id="{BAFE2ECC-31B7-E0BC-CF00-6B948B31FA06}"/>
              </a:ext>
            </a:extLst>
          </p:cNvPr>
          <p:cNvPicPr>
            <a:picLocks noGrp="1"/>
          </p:cNvPicPr>
          <p:nvPr>
            <p:ph sz="half" idx="1"/>
          </p:nvPr>
        </p:nvPicPr>
        <p:blipFill>
          <a:blip r:embed="rId2"/>
          <a:stretch>
            <a:fillRect/>
          </a:stretch>
        </p:blipFill>
        <p:spPr>
          <a:xfrm>
            <a:off x="525294" y="3428998"/>
            <a:ext cx="4445542" cy="2084397"/>
          </a:xfrm>
          <a:prstGeom prst="rect">
            <a:avLst/>
          </a:prstGeom>
          <a:ln>
            <a:solidFill>
              <a:schemeClr val="tx1"/>
            </a:solidFill>
          </a:ln>
        </p:spPr>
      </p:pic>
      <p:pic>
        <p:nvPicPr>
          <p:cNvPr id="6" name="Content Placeholder 5">
            <a:extLst>
              <a:ext uri="{FF2B5EF4-FFF2-40B4-BE49-F238E27FC236}">
                <a16:creationId xmlns:a16="http://schemas.microsoft.com/office/drawing/2014/main" id="{5F9AC74D-64DC-81A1-69F0-0F5339E704D8}"/>
              </a:ext>
            </a:extLst>
          </p:cNvPr>
          <p:cNvPicPr>
            <a:picLocks noGrp="1"/>
          </p:cNvPicPr>
          <p:nvPr>
            <p:ph sz="half" idx="2"/>
          </p:nvPr>
        </p:nvPicPr>
        <p:blipFill>
          <a:blip r:embed="rId3"/>
          <a:stretch>
            <a:fillRect/>
          </a:stretch>
        </p:blipFill>
        <p:spPr>
          <a:xfrm>
            <a:off x="5389123" y="3428998"/>
            <a:ext cx="5223754" cy="2084397"/>
          </a:xfrm>
          <a:prstGeom prst="rect">
            <a:avLst/>
          </a:prstGeom>
          <a:ln>
            <a:solidFill>
              <a:schemeClr val="tx1"/>
            </a:solidFill>
          </a:ln>
        </p:spPr>
      </p:pic>
      <p:sp>
        <p:nvSpPr>
          <p:cNvPr id="7" name="TextBox 6">
            <a:extLst>
              <a:ext uri="{FF2B5EF4-FFF2-40B4-BE49-F238E27FC236}">
                <a16:creationId xmlns:a16="http://schemas.microsoft.com/office/drawing/2014/main" id="{92CA5ACD-C06C-3B6F-2D31-F4EE51558349}"/>
              </a:ext>
            </a:extLst>
          </p:cNvPr>
          <p:cNvSpPr txBox="1"/>
          <p:nvPr/>
        </p:nvSpPr>
        <p:spPr>
          <a:xfrm>
            <a:off x="525294" y="5724547"/>
            <a:ext cx="10087582" cy="1015663"/>
          </a:xfrm>
          <a:prstGeom prst="rect">
            <a:avLst/>
          </a:prstGeom>
          <a:noFill/>
          <a:ln>
            <a:solidFill>
              <a:schemeClr val="tx1"/>
            </a:solidFill>
          </a:ln>
        </p:spPr>
        <p:txBody>
          <a:bodyPr wrap="square" rtlCol="0">
            <a:spAutoFit/>
          </a:bodyPr>
          <a:lstStyle/>
          <a:p>
            <a:r>
              <a:rPr lang="en-IN" sz="2000" b="1" dirty="0"/>
              <a:t>Insight</a:t>
            </a:r>
            <a:r>
              <a:rPr lang="en-IN" sz="2000" dirty="0"/>
              <a:t>: There is no connection between an item's price and how often it is bought. </a:t>
            </a:r>
            <a:r>
              <a:rPr lang="en-IN" sz="2000" b="1" dirty="0"/>
              <a:t> </a:t>
            </a:r>
            <a:r>
              <a:rPr lang="en-IN" sz="2000" dirty="0"/>
              <a:t>Cheaper items do not automatically sell faster than expensive ones. </a:t>
            </a:r>
          </a:p>
          <a:p>
            <a:endParaRPr lang="en-IN" sz="2000" dirty="0"/>
          </a:p>
        </p:txBody>
      </p:sp>
      <p:pic>
        <p:nvPicPr>
          <p:cNvPr id="4" name="Picture 3">
            <a:extLst>
              <a:ext uri="{FF2B5EF4-FFF2-40B4-BE49-F238E27FC236}">
                <a16:creationId xmlns:a16="http://schemas.microsoft.com/office/drawing/2014/main" id="{5DCFC966-EF18-1E09-9A4F-2AD9F0001231}"/>
              </a:ext>
            </a:extLst>
          </p:cNvPr>
          <p:cNvPicPr>
            <a:picLocks noChangeAspect="1"/>
          </p:cNvPicPr>
          <p:nvPr/>
        </p:nvPicPr>
        <p:blipFill>
          <a:blip r:embed="rId4"/>
          <a:stretch>
            <a:fillRect/>
          </a:stretch>
        </p:blipFill>
        <p:spPr>
          <a:xfrm>
            <a:off x="525294" y="893566"/>
            <a:ext cx="4445542" cy="2324280"/>
          </a:xfrm>
          <a:prstGeom prst="rect">
            <a:avLst/>
          </a:prstGeom>
          <a:ln>
            <a:solidFill>
              <a:schemeClr val="tx1"/>
            </a:solidFill>
          </a:ln>
        </p:spPr>
      </p:pic>
      <p:pic>
        <p:nvPicPr>
          <p:cNvPr id="9" name="Picture 8">
            <a:extLst>
              <a:ext uri="{FF2B5EF4-FFF2-40B4-BE49-F238E27FC236}">
                <a16:creationId xmlns:a16="http://schemas.microsoft.com/office/drawing/2014/main" id="{B1D95995-2751-8651-26B4-4ADDC0862970}"/>
              </a:ext>
            </a:extLst>
          </p:cNvPr>
          <p:cNvPicPr>
            <a:picLocks noChangeAspect="1"/>
          </p:cNvPicPr>
          <p:nvPr/>
        </p:nvPicPr>
        <p:blipFill>
          <a:blip r:embed="rId5"/>
          <a:stretch>
            <a:fillRect/>
          </a:stretch>
        </p:blipFill>
        <p:spPr>
          <a:xfrm>
            <a:off x="5389121" y="861010"/>
            <a:ext cx="5223755" cy="2356836"/>
          </a:xfrm>
          <a:prstGeom prst="rect">
            <a:avLst/>
          </a:prstGeom>
          <a:ln>
            <a:solidFill>
              <a:schemeClr val="tx1"/>
            </a:solidFill>
          </a:ln>
        </p:spPr>
      </p:pic>
    </p:spTree>
    <p:extLst>
      <p:ext uri="{BB962C8B-B14F-4D97-AF65-F5344CB8AC3E}">
        <p14:creationId xmlns:p14="http://schemas.microsoft.com/office/powerpoint/2010/main" val="3809039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18E6-FC19-4AC2-E090-92BD2C25C763}"/>
              </a:ext>
            </a:extLst>
          </p:cNvPr>
          <p:cNvSpPr>
            <a:spLocks noGrp="1"/>
          </p:cNvSpPr>
          <p:nvPr>
            <p:ph type="title"/>
          </p:nvPr>
        </p:nvSpPr>
        <p:spPr>
          <a:xfrm>
            <a:off x="444742" y="365128"/>
            <a:ext cx="10909058" cy="656276"/>
          </a:xfrm>
        </p:spPr>
        <p:txBody>
          <a:bodyPr>
            <a:normAutofit fontScale="90000"/>
          </a:bodyPr>
          <a:lstStyle/>
          <a:p>
            <a:r>
              <a:rPr lang="en-IN" sz="2700" b="1" dirty="0"/>
              <a:t>11. Calculate the moving average of order values for each customer over their order history. </a:t>
            </a:r>
            <a:br>
              <a:rPr lang="en-IN" dirty="0"/>
            </a:br>
            <a:endParaRPr lang="en-IN" dirty="0"/>
          </a:p>
        </p:txBody>
      </p:sp>
      <p:sp>
        <p:nvSpPr>
          <p:cNvPr id="7" name="TextBox 6">
            <a:extLst>
              <a:ext uri="{FF2B5EF4-FFF2-40B4-BE49-F238E27FC236}">
                <a16:creationId xmlns:a16="http://schemas.microsoft.com/office/drawing/2014/main" id="{4F53D871-ACE1-6CAA-E508-D61198A6DB8C}"/>
              </a:ext>
            </a:extLst>
          </p:cNvPr>
          <p:cNvSpPr txBox="1"/>
          <p:nvPr/>
        </p:nvSpPr>
        <p:spPr>
          <a:xfrm>
            <a:off x="561474" y="5638609"/>
            <a:ext cx="10030326" cy="707886"/>
          </a:xfrm>
          <a:prstGeom prst="rect">
            <a:avLst/>
          </a:prstGeom>
          <a:noFill/>
          <a:ln>
            <a:solidFill>
              <a:schemeClr val="tx1"/>
            </a:solidFill>
          </a:ln>
        </p:spPr>
        <p:txBody>
          <a:bodyPr wrap="square" rtlCol="0">
            <a:spAutoFit/>
          </a:bodyPr>
          <a:lstStyle/>
          <a:p>
            <a:r>
              <a:rPr lang="en-IN" sz="2000" b="1" dirty="0"/>
              <a:t>Insight</a:t>
            </a:r>
            <a:r>
              <a:rPr lang="en-IN" sz="2000" dirty="0"/>
              <a:t> : Tracking the moving average helps us see the normal spending habits of customers, ignoring sudden spikes from random large orders. </a:t>
            </a:r>
          </a:p>
        </p:txBody>
      </p:sp>
      <p:pic>
        <p:nvPicPr>
          <p:cNvPr id="6" name="Picture 5">
            <a:extLst>
              <a:ext uri="{FF2B5EF4-FFF2-40B4-BE49-F238E27FC236}">
                <a16:creationId xmlns:a16="http://schemas.microsoft.com/office/drawing/2014/main" id="{DDED568E-F72E-6E46-0B97-11837999B3A5}"/>
              </a:ext>
            </a:extLst>
          </p:cNvPr>
          <p:cNvPicPr>
            <a:picLocks noChangeAspect="1"/>
          </p:cNvPicPr>
          <p:nvPr/>
        </p:nvPicPr>
        <p:blipFill>
          <a:blip r:embed="rId2"/>
          <a:stretch>
            <a:fillRect/>
          </a:stretch>
        </p:blipFill>
        <p:spPr>
          <a:xfrm>
            <a:off x="5684100" y="3282289"/>
            <a:ext cx="4907700" cy="2165200"/>
          </a:xfrm>
          <a:prstGeom prst="rect">
            <a:avLst/>
          </a:prstGeom>
          <a:ln>
            <a:solidFill>
              <a:schemeClr val="tx1"/>
            </a:solidFill>
          </a:ln>
        </p:spPr>
      </p:pic>
      <p:pic>
        <p:nvPicPr>
          <p:cNvPr id="10" name="Picture 9">
            <a:extLst>
              <a:ext uri="{FF2B5EF4-FFF2-40B4-BE49-F238E27FC236}">
                <a16:creationId xmlns:a16="http://schemas.microsoft.com/office/drawing/2014/main" id="{6CEB0FF1-6C02-CCB2-C720-644D91AF4A61}"/>
              </a:ext>
            </a:extLst>
          </p:cNvPr>
          <p:cNvPicPr>
            <a:picLocks noChangeAspect="1"/>
          </p:cNvPicPr>
          <p:nvPr/>
        </p:nvPicPr>
        <p:blipFill>
          <a:blip r:embed="rId3"/>
          <a:stretch>
            <a:fillRect/>
          </a:stretch>
        </p:blipFill>
        <p:spPr>
          <a:xfrm>
            <a:off x="5684100" y="827833"/>
            <a:ext cx="4907700" cy="2263336"/>
          </a:xfrm>
          <a:prstGeom prst="rect">
            <a:avLst/>
          </a:prstGeom>
          <a:ln>
            <a:solidFill>
              <a:schemeClr val="tx1"/>
            </a:solidFill>
          </a:ln>
        </p:spPr>
      </p:pic>
      <p:pic>
        <p:nvPicPr>
          <p:cNvPr id="16" name="Picture 15">
            <a:extLst>
              <a:ext uri="{FF2B5EF4-FFF2-40B4-BE49-F238E27FC236}">
                <a16:creationId xmlns:a16="http://schemas.microsoft.com/office/drawing/2014/main" id="{F6BD7237-2080-63E0-81ED-9BB71A7A83E6}"/>
              </a:ext>
            </a:extLst>
          </p:cNvPr>
          <p:cNvPicPr>
            <a:picLocks noChangeAspect="1"/>
          </p:cNvPicPr>
          <p:nvPr/>
        </p:nvPicPr>
        <p:blipFill>
          <a:blip r:embed="rId4"/>
          <a:stretch>
            <a:fillRect/>
          </a:stretch>
        </p:blipFill>
        <p:spPr>
          <a:xfrm>
            <a:off x="561473" y="3385633"/>
            <a:ext cx="4516365" cy="2061855"/>
          </a:xfrm>
          <a:prstGeom prst="rect">
            <a:avLst/>
          </a:prstGeom>
          <a:ln>
            <a:solidFill>
              <a:schemeClr val="tx1"/>
            </a:solidFill>
          </a:ln>
        </p:spPr>
      </p:pic>
      <p:pic>
        <p:nvPicPr>
          <p:cNvPr id="18" name="Picture 17">
            <a:extLst>
              <a:ext uri="{FF2B5EF4-FFF2-40B4-BE49-F238E27FC236}">
                <a16:creationId xmlns:a16="http://schemas.microsoft.com/office/drawing/2014/main" id="{2F6C6197-37C4-8978-3E66-09A0DAA3154A}"/>
              </a:ext>
            </a:extLst>
          </p:cNvPr>
          <p:cNvPicPr>
            <a:picLocks noChangeAspect="1"/>
          </p:cNvPicPr>
          <p:nvPr/>
        </p:nvPicPr>
        <p:blipFill>
          <a:blip r:embed="rId5"/>
          <a:stretch>
            <a:fillRect/>
          </a:stretch>
        </p:blipFill>
        <p:spPr>
          <a:xfrm>
            <a:off x="561473" y="827833"/>
            <a:ext cx="4516365" cy="2263336"/>
          </a:xfrm>
          <a:prstGeom prst="rect">
            <a:avLst/>
          </a:prstGeom>
          <a:ln>
            <a:solidFill>
              <a:schemeClr val="tx1"/>
            </a:solidFill>
          </a:ln>
        </p:spPr>
      </p:pic>
    </p:spTree>
    <p:extLst>
      <p:ext uri="{BB962C8B-B14F-4D97-AF65-F5344CB8AC3E}">
        <p14:creationId xmlns:p14="http://schemas.microsoft.com/office/powerpoint/2010/main" val="2661708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CE07-A641-DC9C-E206-091852D6257C}"/>
              </a:ext>
            </a:extLst>
          </p:cNvPr>
          <p:cNvSpPr>
            <a:spLocks noGrp="1"/>
          </p:cNvSpPr>
          <p:nvPr>
            <p:ph type="title"/>
          </p:nvPr>
        </p:nvSpPr>
        <p:spPr>
          <a:xfrm>
            <a:off x="533400" y="132363"/>
            <a:ext cx="10820400" cy="791598"/>
          </a:xfrm>
        </p:spPr>
        <p:txBody>
          <a:bodyPr>
            <a:normAutofit fontScale="90000"/>
          </a:bodyPr>
          <a:lstStyle/>
          <a:p>
            <a:r>
              <a:rPr lang="en-US" sz="2700" b="1" dirty="0"/>
              <a:t>12.  Calculate the cumulative sales per month for each year.</a:t>
            </a:r>
            <a:br>
              <a:rPr lang="en-IN" dirty="0"/>
            </a:br>
            <a:endParaRPr lang="en-IN" dirty="0"/>
          </a:p>
        </p:txBody>
      </p:sp>
      <p:sp>
        <p:nvSpPr>
          <p:cNvPr id="5" name="TextBox 4">
            <a:extLst>
              <a:ext uri="{FF2B5EF4-FFF2-40B4-BE49-F238E27FC236}">
                <a16:creationId xmlns:a16="http://schemas.microsoft.com/office/drawing/2014/main" id="{04AD835C-550F-C58D-12E6-A753AD693E5C}"/>
              </a:ext>
            </a:extLst>
          </p:cNvPr>
          <p:cNvSpPr txBox="1"/>
          <p:nvPr/>
        </p:nvSpPr>
        <p:spPr>
          <a:xfrm>
            <a:off x="695826" y="5975895"/>
            <a:ext cx="10119563" cy="707886"/>
          </a:xfrm>
          <a:prstGeom prst="rect">
            <a:avLst/>
          </a:prstGeom>
          <a:noFill/>
          <a:ln>
            <a:solidFill>
              <a:schemeClr val="tx1"/>
            </a:solidFill>
          </a:ln>
        </p:spPr>
        <p:txBody>
          <a:bodyPr wrap="square" rtlCol="0">
            <a:spAutoFit/>
          </a:bodyPr>
          <a:lstStyle/>
          <a:p>
            <a:r>
              <a:rPr lang="en-IN" sz="2400" baseline="30000" dirty="0"/>
              <a:t> </a:t>
            </a:r>
            <a:r>
              <a:rPr lang="en-IN" sz="2000" b="1" dirty="0"/>
              <a:t>Insight</a:t>
            </a:r>
            <a:r>
              <a:rPr lang="en-IN" sz="2000" dirty="0"/>
              <a:t>: Sales grew steadily month after month in 2017. This shows healthy,  continuous growth without any slow periods.</a:t>
            </a:r>
          </a:p>
        </p:txBody>
      </p:sp>
      <p:pic>
        <p:nvPicPr>
          <p:cNvPr id="8" name="Picture 7">
            <a:extLst>
              <a:ext uri="{FF2B5EF4-FFF2-40B4-BE49-F238E27FC236}">
                <a16:creationId xmlns:a16="http://schemas.microsoft.com/office/drawing/2014/main" id="{31B7F64A-D96A-E09C-AF24-15B977A8F3E9}"/>
              </a:ext>
            </a:extLst>
          </p:cNvPr>
          <p:cNvPicPr>
            <a:picLocks noChangeAspect="1"/>
          </p:cNvPicPr>
          <p:nvPr/>
        </p:nvPicPr>
        <p:blipFill>
          <a:blip r:embed="rId2"/>
          <a:srcRect l="13454" b="31346"/>
          <a:stretch>
            <a:fillRect/>
          </a:stretch>
        </p:blipFill>
        <p:spPr>
          <a:xfrm>
            <a:off x="5829299" y="3389363"/>
            <a:ext cx="5238750" cy="2194313"/>
          </a:xfrm>
          <a:prstGeom prst="rect">
            <a:avLst/>
          </a:prstGeom>
          <a:ln>
            <a:solidFill>
              <a:schemeClr val="tx1"/>
            </a:solidFill>
          </a:ln>
        </p:spPr>
      </p:pic>
      <p:pic>
        <p:nvPicPr>
          <p:cNvPr id="15" name="Picture 14">
            <a:extLst>
              <a:ext uri="{FF2B5EF4-FFF2-40B4-BE49-F238E27FC236}">
                <a16:creationId xmlns:a16="http://schemas.microsoft.com/office/drawing/2014/main" id="{A7C608CA-9389-8095-235D-9DC360C04813}"/>
              </a:ext>
            </a:extLst>
          </p:cNvPr>
          <p:cNvPicPr>
            <a:picLocks noChangeAspect="1"/>
          </p:cNvPicPr>
          <p:nvPr/>
        </p:nvPicPr>
        <p:blipFill>
          <a:blip r:embed="rId3"/>
          <a:stretch>
            <a:fillRect/>
          </a:stretch>
        </p:blipFill>
        <p:spPr>
          <a:xfrm>
            <a:off x="5829298" y="457200"/>
            <a:ext cx="5238751" cy="2682365"/>
          </a:xfrm>
          <a:prstGeom prst="rect">
            <a:avLst/>
          </a:prstGeom>
          <a:ln>
            <a:solidFill>
              <a:schemeClr val="tx1"/>
            </a:solidFill>
          </a:ln>
        </p:spPr>
      </p:pic>
      <p:pic>
        <p:nvPicPr>
          <p:cNvPr id="17" name="Picture 16">
            <a:extLst>
              <a:ext uri="{FF2B5EF4-FFF2-40B4-BE49-F238E27FC236}">
                <a16:creationId xmlns:a16="http://schemas.microsoft.com/office/drawing/2014/main" id="{190E5359-8F37-FDEB-FC65-F60480A58586}"/>
              </a:ext>
            </a:extLst>
          </p:cNvPr>
          <p:cNvPicPr>
            <a:picLocks noChangeAspect="1"/>
          </p:cNvPicPr>
          <p:nvPr/>
        </p:nvPicPr>
        <p:blipFill>
          <a:blip r:embed="rId4"/>
          <a:stretch>
            <a:fillRect/>
          </a:stretch>
        </p:blipFill>
        <p:spPr>
          <a:xfrm>
            <a:off x="695826" y="457200"/>
            <a:ext cx="4663574" cy="2682365"/>
          </a:xfrm>
          <a:prstGeom prst="rect">
            <a:avLst/>
          </a:prstGeom>
          <a:ln>
            <a:solidFill>
              <a:schemeClr val="tx1"/>
            </a:solidFill>
          </a:ln>
        </p:spPr>
      </p:pic>
      <p:pic>
        <p:nvPicPr>
          <p:cNvPr id="19" name="Picture 18">
            <a:extLst>
              <a:ext uri="{FF2B5EF4-FFF2-40B4-BE49-F238E27FC236}">
                <a16:creationId xmlns:a16="http://schemas.microsoft.com/office/drawing/2014/main" id="{62D8D8AF-93AB-26F9-5EFD-8644F783E9F3}"/>
              </a:ext>
            </a:extLst>
          </p:cNvPr>
          <p:cNvPicPr>
            <a:picLocks noChangeAspect="1"/>
          </p:cNvPicPr>
          <p:nvPr/>
        </p:nvPicPr>
        <p:blipFill>
          <a:blip r:embed="rId5"/>
          <a:stretch>
            <a:fillRect/>
          </a:stretch>
        </p:blipFill>
        <p:spPr>
          <a:xfrm>
            <a:off x="695827" y="3429001"/>
            <a:ext cx="4663574" cy="2154676"/>
          </a:xfrm>
          <a:prstGeom prst="rect">
            <a:avLst/>
          </a:prstGeom>
          <a:ln>
            <a:solidFill>
              <a:schemeClr val="tx1"/>
            </a:solidFill>
          </a:ln>
        </p:spPr>
      </p:pic>
    </p:spTree>
    <p:extLst>
      <p:ext uri="{BB962C8B-B14F-4D97-AF65-F5344CB8AC3E}">
        <p14:creationId xmlns:p14="http://schemas.microsoft.com/office/powerpoint/2010/main" val="390062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9888-DA0F-B4E1-87F8-511D8B1E55F4}"/>
              </a:ext>
            </a:extLst>
          </p:cNvPr>
          <p:cNvSpPr>
            <a:spLocks noGrp="1"/>
          </p:cNvSpPr>
          <p:nvPr>
            <p:ph type="title"/>
          </p:nvPr>
        </p:nvSpPr>
        <p:spPr>
          <a:xfrm>
            <a:off x="597187" y="100138"/>
            <a:ext cx="10793963" cy="561392"/>
          </a:xfrm>
        </p:spPr>
        <p:txBody>
          <a:bodyPr>
            <a:normAutofit fontScale="90000"/>
          </a:bodyPr>
          <a:lstStyle/>
          <a:p>
            <a:r>
              <a:rPr lang="en-US" sz="2700" b="1" dirty="0"/>
              <a:t>13. Calculate the year-over-year growth rate of total sales.</a:t>
            </a:r>
            <a:br>
              <a:rPr lang="en-IN" sz="2400" dirty="0"/>
            </a:br>
            <a:endParaRPr lang="en-IN" sz="2400" dirty="0"/>
          </a:p>
        </p:txBody>
      </p:sp>
      <p:pic>
        <p:nvPicPr>
          <p:cNvPr id="5" name="Content Placeholder 4">
            <a:extLst>
              <a:ext uri="{FF2B5EF4-FFF2-40B4-BE49-F238E27FC236}">
                <a16:creationId xmlns:a16="http://schemas.microsoft.com/office/drawing/2014/main" id="{5585D17C-61E9-8455-DC7F-6B155F83AF7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r="14796"/>
          <a:stretch>
            <a:fillRect/>
          </a:stretch>
        </p:blipFill>
        <p:spPr>
          <a:xfrm>
            <a:off x="642026" y="3721018"/>
            <a:ext cx="4221804" cy="2096122"/>
          </a:xfrm>
          <a:prstGeom prst="rect">
            <a:avLst/>
          </a:prstGeom>
          <a:ln>
            <a:solidFill>
              <a:schemeClr val="tx1"/>
            </a:solidFill>
          </a:ln>
        </p:spPr>
      </p:pic>
      <p:pic>
        <p:nvPicPr>
          <p:cNvPr id="6" name="Content Placeholder 5">
            <a:extLst>
              <a:ext uri="{FF2B5EF4-FFF2-40B4-BE49-F238E27FC236}">
                <a16:creationId xmlns:a16="http://schemas.microsoft.com/office/drawing/2014/main" id="{F653F1F2-0783-F978-E8B9-6476C6C0CD4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5994168" y="3623914"/>
            <a:ext cx="4844115" cy="2193226"/>
          </a:xfrm>
          <a:prstGeom prst="rect">
            <a:avLst/>
          </a:prstGeom>
          <a:noFill/>
          <a:ln>
            <a:solidFill>
              <a:schemeClr val="tx1"/>
            </a:solidFill>
          </a:ln>
        </p:spPr>
      </p:pic>
      <p:sp>
        <p:nvSpPr>
          <p:cNvPr id="7" name="TextBox 6">
            <a:extLst>
              <a:ext uri="{FF2B5EF4-FFF2-40B4-BE49-F238E27FC236}">
                <a16:creationId xmlns:a16="http://schemas.microsoft.com/office/drawing/2014/main" id="{E60C5634-6C38-2523-D133-A378AD3FA02D}"/>
              </a:ext>
            </a:extLst>
          </p:cNvPr>
          <p:cNvSpPr txBox="1"/>
          <p:nvPr/>
        </p:nvSpPr>
        <p:spPr>
          <a:xfrm>
            <a:off x="597187" y="6049976"/>
            <a:ext cx="10241096" cy="707886"/>
          </a:xfrm>
          <a:prstGeom prst="rect">
            <a:avLst/>
          </a:prstGeom>
          <a:noFill/>
          <a:ln>
            <a:solidFill>
              <a:schemeClr val="tx1"/>
            </a:solidFill>
          </a:ln>
        </p:spPr>
        <p:txBody>
          <a:bodyPr wrap="square" rtlCol="0">
            <a:spAutoFit/>
          </a:bodyPr>
          <a:lstStyle/>
          <a:p>
            <a:r>
              <a:rPr lang="en-IN" sz="2000" b="1" dirty="0"/>
              <a:t>Insight</a:t>
            </a:r>
            <a:r>
              <a:rPr lang="en-IN" sz="2000" dirty="0"/>
              <a:t>: The massive 12,264% growth in 2017 likely means we only have a tiny bit of </a:t>
            </a:r>
            <a:r>
              <a:rPr lang="en-IN" sz="2000" b="1" baseline="30000" dirty="0"/>
              <a:t> </a:t>
            </a:r>
            <a:r>
              <a:rPr lang="en-IN" sz="2000" dirty="0"/>
              <a:t>data for 2016. The 20% growth in 2018 is a much more realistic picture of how the </a:t>
            </a:r>
            <a:r>
              <a:rPr lang="en-IN" sz="2000" b="1" dirty="0"/>
              <a:t> </a:t>
            </a:r>
            <a:r>
              <a:rPr lang="en-IN" sz="2000" dirty="0"/>
              <a:t>business is doing. </a:t>
            </a:r>
          </a:p>
        </p:txBody>
      </p:sp>
      <p:pic>
        <p:nvPicPr>
          <p:cNvPr id="4" name="Picture 3">
            <a:extLst>
              <a:ext uri="{FF2B5EF4-FFF2-40B4-BE49-F238E27FC236}">
                <a16:creationId xmlns:a16="http://schemas.microsoft.com/office/drawing/2014/main" id="{C99F02EE-019E-65E1-089A-F15328A443B4}"/>
              </a:ext>
            </a:extLst>
          </p:cNvPr>
          <p:cNvPicPr>
            <a:picLocks noChangeAspect="1"/>
          </p:cNvPicPr>
          <p:nvPr/>
        </p:nvPicPr>
        <p:blipFill>
          <a:blip r:embed="rId4"/>
          <a:stretch>
            <a:fillRect/>
          </a:stretch>
        </p:blipFill>
        <p:spPr>
          <a:xfrm>
            <a:off x="642027" y="531448"/>
            <a:ext cx="4221803" cy="2751058"/>
          </a:xfrm>
          <a:prstGeom prst="rect">
            <a:avLst/>
          </a:prstGeom>
          <a:ln>
            <a:solidFill>
              <a:schemeClr val="tx1"/>
            </a:solidFill>
          </a:ln>
        </p:spPr>
      </p:pic>
      <p:pic>
        <p:nvPicPr>
          <p:cNvPr id="9" name="Picture 8">
            <a:extLst>
              <a:ext uri="{FF2B5EF4-FFF2-40B4-BE49-F238E27FC236}">
                <a16:creationId xmlns:a16="http://schemas.microsoft.com/office/drawing/2014/main" id="{177533BC-BD83-5B06-7FCB-70C3689075F6}"/>
              </a:ext>
            </a:extLst>
          </p:cNvPr>
          <p:cNvPicPr>
            <a:picLocks noChangeAspect="1"/>
          </p:cNvPicPr>
          <p:nvPr/>
        </p:nvPicPr>
        <p:blipFill>
          <a:blip r:embed="rId5"/>
          <a:stretch>
            <a:fillRect/>
          </a:stretch>
        </p:blipFill>
        <p:spPr>
          <a:xfrm>
            <a:off x="5994168" y="531448"/>
            <a:ext cx="4844116" cy="2767470"/>
          </a:xfrm>
          <a:prstGeom prst="rect">
            <a:avLst/>
          </a:prstGeom>
          <a:ln>
            <a:solidFill>
              <a:schemeClr val="tx1"/>
            </a:solidFill>
          </a:ln>
        </p:spPr>
      </p:pic>
    </p:spTree>
    <p:extLst>
      <p:ext uri="{BB962C8B-B14F-4D97-AF65-F5344CB8AC3E}">
        <p14:creationId xmlns:p14="http://schemas.microsoft.com/office/powerpoint/2010/main" val="484950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A8234-C348-425E-4DBB-D94207FABB27}"/>
              </a:ext>
            </a:extLst>
          </p:cNvPr>
          <p:cNvSpPr>
            <a:spLocks noGrp="1"/>
          </p:cNvSpPr>
          <p:nvPr>
            <p:ph type="title"/>
          </p:nvPr>
        </p:nvSpPr>
        <p:spPr>
          <a:xfrm>
            <a:off x="535021" y="1"/>
            <a:ext cx="10822994" cy="731412"/>
          </a:xfrm>
        </p:spPr>
        <p:txBody>
          <a:bodyPr>
            <a:normAutofit/>
          </a:bodyPr>
          <a:lstStyle/>
          <a:p>
            <a:r>
              <a:rPr lang="en-US" sz="2000" b="1" dirty="0"/>
              <a:t>14. Calculate the retention rate of customers, defined as the percentage of customers who make another purchase within 6 months of their first purchase.</a:t>
            </a:r>
            <a:endParaRPr lang="en-IN" sz="2000" dirty="0"/>
          </a:p>
        </p:txBody>
      </p:sp>
      <p:sp>
        <p:nvSpPr>
          <p:cNvPr id="7" name="TextBox 6">
            <a:extLst>
              <a:ext uri="{FF2B5EF4-FFF2-40B4-BE49-F238E27FC236}">
                <a16:creationId xmlns:a16="http://schemas.microsoft.com/office/drawing/2014/main" id="{D834AC10-CC42-9CF4-DDF1-B0EFB4748F8E}"/>
              </a:ext>
            </a:extLst>
          </p:cNvPr>
          <p:cNvSpPr txBox="1"/>
          <p:nvPr/>
        </p:nvSpPr>
        <p:spPr>
          <a:xfrm>
            <a:off x="677331" y="5534304"/>
            <a:ext cx="10680683" cy="1015663"/>
          </a:xfrm>
          <a:prstGeom prst="rect">
            <a:avLst/>
          </a:prstGeom>
          <a:noFill/>
          <a:ln>
            <a:solidFill>
              <a:schemeClr val="tx1"/>
            </a:solidFill>
          </a:ln>
        </p:spPr>
        <p:txBody>
          <a:bodyPr wrap="square" rtlCol="0">
            <a:spAutoFit/>
          </a:bodyPr>
          <a:lstStyle/>
          <a:p>
            <a:r>
              <a:rPr lang="en-US" sz="2000" b="1" dirty="0"/>
              <a:t>Insight</a:t>
            </a:r>
            <a:r>
              <a:rPr lang="en-IN" sz="2000" dirty="0"/>
              <a:t>:Our analysis shows a 0% retention rate, indicating that first-time buyers are not returning to make a second purchase within 6 months. We need to implement targeted email marketing and loyalty programs to incentivize repeat shopping and improve customer loyalty. 	</a:t>
            </a:r>
          </a:p>
        </p:txBody>
      </p:sp>
      <p:pic>
        <p:nvPicPr>
          <p:cNvPr id="11" name="Picture 10">
            <a:extLst>
              <a:ext uri="{FF2B5EF4-FFF2-40B4-BE49-F238E27FC236}">
                <a16:creationId xmlns:a16="http://schemas.microsoft.com/office/drawing/2014/main" id="{DE0E9672-5FFE-0758-4A44-CCD5D0535E9A}"/>
              </a:ext>
            </a:extLst>
          </p:cNvPr>
          <p:cNvPicPr>
            <a:picLocks noChangeAspect="1"/>
          </p:cNvPicPr>
          <p:nvPr/>
        </p:nvPicPr>
        <p:blipFill>
          <a:blip r:embed="rId2"/>
          <a:srcRect b="19497"/>
          <a:stretch>
            <a:fillRect/>
          </a:stretch>
        </p:blipFill>
        <p:spPr>
          <a:xfrm>
            <a:off x="677332" y="4042246"/>
            <a:ext cx="4857705" cy="1148880"/>
          </a:xfrm>
          <a:prstGeom prst="rect">
            <a:avLst/>
          </a:prstGeom>
          <a:ln>
            <a:solidFill>
              <a:schemeClr val="tx1"/>
            </a:solidFill>
          </a:ln>
        </p:spPr>
      </p:pic>
      <p:pic>
        <p:nvPicPr>
          <p:cNvPr id="13" name="Picture 12">
            <a:extLst>
              <a:ext uri="{FF2B5EF4-FFF2-40B4-BE49-F238E27FC236}">
                <a16:creationId xmlns:a16="http://schemas.microsoft.com/office/drawing/2014/main" id="{B9D175D5-4660-6F8E-595C-416E2AC550F9}"/>
              </a:ext>
            </a:extLst>
          </p:cNvPr>
          <p:cNvPicPr>
            <a:picLocks noChangeAspect="1"/>
          </p:cNvPicPr>
          <p:nvPr/>
        </p:nvPicPr>
        <p:blipFill>
          <a:blip r:embed="rId3"/>
          <a:stretch>
            <a:fillRect/>
          </a:stretch>
        </p:blipFill>
        <p:spPr>
          <a:xfrm>
            <a:off x="677333" y="731412"/>
            <a:ext cx="4857705" cy="2830938"/>
          </a:xfrm>
          <a:prstGeom prst="rect">
            <a:avLst/>
          </a:prstGeom>
          <a:ln>
            <a:solidFill>
              <a:schemeClr val="tx1"/>
            </a:solidFill>
          </a:ln>
        </p:spPr>
      </p:pic>
      <p:pic>
        <p:nvPicPr>
          <p:cNvPr id="20" name="Picture 19">
            <a:extLst>
              <a:ext uri="{FF2B5EF4-FFF2-40B4-BE49-F238E27FC236}">
                <a16:creationId xmlns:a16="http://schemas.microsoft.com/office/drawing/2014/main" id="{6A6591C7-A015-2A2E-D0BC-CDC62DF82017}"/>
              </a:ext>
            </a:extLst>
          </p:cNvPr>
          <p:cNvPicPr>
            <a:picLocks noChangeAspect="1"/>
          </p:cNvPicPr>
          <p:nvPr/>
        </p:nvPicPr>
        <p:blipFill>
          <a:blip r:embed="rId4"/>
          <a:srcRect b="20940"/>
          <a:stretch>
            <a:fillRect/>
          </a:stretch>
        </p:blipFill>
        <p:spPr>
          <a:xfrm>
            <a:off x="5881811" y="731412"/>
            <a:ext cx="5476204" cy="2830938"/>
          </a:xfrm>
          <a:prstGeom prst="rect">
            <a:avLst/>
          </a:prstGeom>
          <a:ln>
            <a:solidFill>
              <a:schemeClr val="tx1"/>
            </a:solidFill>
          </a:ln>
        </p:spPr>
      </p:pic>
      <p:pic>
        <p:nvPicPr>
          <p:cNvPr id="21" name="Picture 20">
            <a:extLst>
              <a:ext uri="{FF2B5EF4-FFF2-40B4-BE49-F238E27FC236}">
                <a16:creationId xmlns:a16="http://schemas.microsoft.com/office/drawing/2014/main" id="{0B696506-9208-24FA-89CD-6A70365F6B4C}"/>
              </a:ext>
            </a:extLst>
          </p:cNvPr>
          <p:cNvPicPr>
            <a:picLocks noChangeAspect="1"/>
          </p:cNvPicPr>
          <p:nvPr/>
        </p:nvPicPr>
        <p:blipFill>
          <a:blip r:embed="rId4"/>
          <a:srcRect t="76483" r="17909"/>
          <a:stretch>
            <a:fillRect/>
          </a:stretch>
        </p:blipFill>
        <p:spPr>
          <a:xfrm>
            <a:off x="5881811" y="4042246"/>
            <a:ext cx="5476204" cy="1148880"/>
          </a:xfrm>
          <a:prstGeom prst="rect">
            <a:avLst/>
          </a:prstGeom>
          <a:ln>
            <a:solidFill>
              <a:schemeClr val="tx1"/>
            </a:solidFill>
          </a:ln>
        </p:spPr>
      </p:pic>
    </p:spTree>
    <p:extLst>
      <p:ext uri="{BB962C8B-B14F-4D97-AF65-F5344CB8AC3E}">
        <p14:creationId xmlns:p14="http://schemas.microsoft.com/office/powerpoint/2010/main" val="298757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23DF1-DAC9-5102-6053-DDBA0AA33157}"/>
              </a:ext>
            </a:extLst>
          </p:cNvPr>
          <p:cNvSpPr>
            <a:spLocks noGrp="1"/>
          </p:cNvSpPr>
          <p:nvPr>
            <p:ph type="title"/>
          </p:nvPr>
        </p:nvSpPr>
        <p:spPr>
          <a:xfrm>
            <a:off x="583570" y="99447"/>
            <a:ext cx="10748866" cy="601134"/>
          </a:xfrm>
        </p:spPr>
        <p:txBody>
          <a:bodyPr>
            <a:normAutofit fontScale="90000"/>
          </a:bodyPr>
          <a:lstStyle/>
          <a:p>
            <a:r>
              <a:rPr lang="en-US" sz="2700" b="1" dirty="0"/>
              <a:t>15.  Identify the top 3 customers who spent the most money in each year.</a:t>
            </a:r>
            <a:br>
              <a:rPr lang="en-IN" sz="2400" dirty="0"/>
            </a:br>
            <a:endParaRPr lang="en-IN" sz="2400" dirty="0"/>
          </a:p>
        </p:txBody>
      </p:sp>
      <p:sp>
        <p:nvSpPr>
          <p:cNvPr id="3" name="TextBox 2">
            <a:extLst>
              <a:ext uri="{FF2B5EF4-FFF2-40B4-BE49-F238E27FC236}">
                <a16:creationId xmlns:a16="http://schemas.microsoft.com/office/drawing/2014/main" id="{0C33B320-E9C0-D6E3-F70C-D4FD6CBB9E35}"/>
              </a:ext>
            </a:extLst>
          </p:cNvPr>
          <p:cNvSpPr txBox="1"/>
          <p:nvPr/>
        </p:nvSpPr>
        <p:spPr>
          <a:xfrm>
            <a:off x="583570" y="6024091"/>
            <a:ext cx="9922504" cy="707886"/>
          </a:xfrm>
          <a:prstGeom prst="rect">
            <a:avLst/>
          </a:prstGeom>
          <a:noFill/>
          <a:ln>
            <a:solidFill>
              <a:schemeClr val="tx1"/>
            </a:solidFill>
          </a:ln>
        </p:spPr>
        <p:txBody>
          <a:bodyPr wrap="square" rtlCol="0">
            <a:spAutoFit/>
          </a:bodyPr>
          <a:lstStyle/>
          <a:p>
            <a:r>
              <a:rPr lang="en-IN" sz="2000" b="1" dirty="0"/>
              <a:t>Insight</a:t>
            </a:r>
            <a:r>
              <a:rPr lang="en-IN" sz="2000" dirty="0"/>
              <a:t>: A few key customers spend a huge amount of money. We should offer them VIP discounts to thank them and keep them loyal. </a:t>
            </a:r>
          </a:p>
        </p:txBody>
      </p:sp>
      <p:pic>
        <p:nvPicPr>
          <p:cNvPr id="6" name="Picture 5">
            <a:extLst>
              <a:ext uri="{FF2B5EF4-FFF2-40B4-BE49-F238E27FC236}">
                <a16:creationId xmlns:a16="http://schemas.microsoft.com/office/drawing/2014/main" id="{0BFDB475-6C48-1BF7-0AEB-9FFA2B9FC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840" y="611306"/>
            <a:ext cx="4206455" cy="2171681"/>
          </a:xfrm>
          <a:prstGeom prst="rect">
            <a:avLst/>
          </a:prstGeom>
          <a:ln>
            <a:solidFill>
              <a:schemeClr val="tx1"/>
            </a:solidFill>
          </a:ln>
        </p:spPr>
      </p:pic>
      <p:pic>
        <p:nvPicPr>
          <p:cNvPr id="8" name="Picture 7">
            <a:extLst>
              <a:ext uri="{FF2B5EF4-FFF2-40B4-BE49-F238E27FC236}">
                <a16:creationId xmlns:a16="http://schemas.microsoft.com/office/drawing/2014/main" id="{43213890-F96D-5902-190C-F3C5C09D23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839" y="3185700"/>
            <a:ext cx="4206455" cy="2378520"/>
          </a:xfrm>
          <a:prstGeom prst="rect">
            <a:avLst/>
          </a:prstGeom>
          <a:ln>
            <a:solidFill>
              <a:schemeClr val="tx1"/>
            </a:solidFill>
          </a:ln>
        </p:spPr>
      </p:pic>
      <p:pic>
        <p:nvPicPr>
          <p:cNvPr id="14" name="Picture 13">
            <a:extLst>
              <a:ext uri="{FF2B5EF4-FFF2-40B4-BE49-F238E27FC236}">
                <a16:creationId xmlns:a16="http://schemas.microsoft.com/office/drawing/2014/main" id="{FACF298F-B604-ADA4-2DD9-A4EA171A6BFF}"/>
              </a:ext>
            </a:extLst>
          </p:cNvPr>
          <p:cNvPicPr>
            <a:picLocks noChangeAspect="1"/>
          </p:cNvPicPr>
          <p:nvPr/>
        </p:nvPicPr>
        <p:blipFill>
          <a:blip r:embed="rId4">
            <a:extLst>
              <a:ext uri="{28A0092B-C50C-407E-A947-70E740481C1C}">
                <a14:useLocalDpi xmlns:a14="http://schemas.microsoft.com/office/drawing/2010/main" val="0"/>
              </a:ext>
            </a:extLst>
          </a:blip>
          <a:srcRect l="7734" t="49645" r="42031"/>
          <a:stretch>
            <a:fillRect/>
          </a:stretch>
        </p:blipFill>
        <p:spPr>
          <a:xfrm>
            <a:off x="5353050" y="3185700"/>
            <a:ext cx="5153024" cy="2378520"/>
          </a:xfrm>
          <a:prstGeom prst="rect">
            <a:avLst/>
          </a:prstGeom>
          <a:ln>
            <a:solidFill>
              <a:schemeClr val="tx1"/>
            </a:solidFill>
          </a:ln>
        </p:spPr>
      </p:pic>
      <p:pic>
        <p:nvPicPr>
          <p:cNvPr id="16" name="Picture 15">
            <a:extLst>
              <a:ext uri="{FF2B5EF4-FFF2-40B4-BE49-F238E27FC236}">
                <a16:creationId xmlns:a16="http://schemas.microsoft.com/office/drawing/2014/main" id="{13DC8247-75AB-095B-7212-DDD9FCC30FB7}"/>
              </a:ext>
            </a:extLst>
          </p:cNvPr>
          <p:cNvPicPr>
            <a:picLocks noChangeAspect="1"/>
          </p:cNvPicPr>
          <p:nvPr/>
        </p:nvPicPr>
        <p:blipFill>
          <a:blip r:embed="rId4">
            <a:extLst>
              <a:ext uri="{28A0092B-C50C-407E-A947-70E740481C1C}">
                <a14:useLocalDpi xmlns:a14="http://schemas.microsoft.com/office/drawing/2010/main" val="0"/>
              </a:ext>
            </a:extLst>
          </a:blip>
          <a:srcRect b="49645"/>
          <a:stretch>
            <a:fillRect/>
          </a:stretch>
        </p:blipFill>
        <p:spPr>
          <a:xfrm>
            <a:off x="5353049" y="611306"/>
            <a:ext cx="5153025" cy="2171681"/>
          </a:xfrm>
          <a:prstGeom prst="rect">
            <a:avLst/>
          </a:prstGeom>
          <a:ln>
            <a:solidFill>
              <a:schemeClr val="tx1"/>
            </a:solidFill>
          </a:ln>
        </p:spPr>
      </p:pic>
    </p:spTree>
    <p:extLst>
      <p:ext uri="{BB962C8B-B14F-4D97-AF65-F5344CB8AC3E}">
        <p14:creationId xmlns:p14="http://schemas.microsoft.com/office/powerpoint/2010/main" val="774738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E830-CAE9-3210-2DD0-D30D361EF847}"/>
              </a:ext>
            </a:extLst>
          </p:cNvPr>
          <p:cNvSpPr>
            <a:spLocks noGrp="1"/>
          </p:cNvSpPr>
          <p:nvPr>
            <p:ph type="ctrTitle"/>
          </p:nvPr>
        </p:nvSpPr>
        <p:spPr>
          <a:xfrm>
            <a:off x="515566" y="165371"/>
            <a:ext cx="10152434" cy="408561"/>
          </a:xfrm>
        </p:spPr>
        <p:txBody>
          <a:bodyPr>
            <a:normAutofit fontScale="90000"/>
          </a:bodyPr>
          <a:lstStyle/>
          <a:p>
            <a:pPr marL="342900" indent="-342900" algn="l">
              <a:buFont typeface="Wingdings" panose="05000000000000000000" pitchFamily="2" charset="2"/>
              <a:buChar char="Ø"/>
            </a:pPr>
            <a:r>
              <a:rPr lang="en-US" sz="2400" b="1" dirty="0">
                <a:latin typeface="+mn-lt"/>
              </a:rPr>
              <a:t>Key Business Recommendations:</a:t>
            </a:r>
            <a:endParaRPr lang="en-IN" sz="2400" b="1" dirty="0">
              <a:latin typeface="+mn-lt"/>
            </a:endParaRPr>
          </a:p>
        </p:txBody>
      </p:sp>
      <p:sp>
        <p:nvSpPr>
          <p:cNvPr id="3" name="Subtitle 2">
            <a:extLst>
              <a:ext uri="{FF2B5EF4-FFF2-40B4-BE49-F238E27FC236}">
                <a16:creationId xmlns:a16="http://schemas.microsoft.com/office/drawing/2014/main" id="{4CD16217-50F5-A7BB-55BC-0C5B0F5F5F81}"/>
              </a:ext>
            </a:extLst>
          </p:cNvPr>
          <p:cNvSpPr>
            <a:spLocks noGrp="1"/>
          </p:cNvSpPr>
          <p:nvPr>
            <p:ph type="subTitle" idx="1"/>
          </p:nvPr>
        </p:nvSpPr>
        <p:spPr>
          <a:xfrm>
            <a:off x="282102" y="865761"/>
            <a:ext cx="10385898" cy="5315964"/>
          </a:xfrm>
        </p:spPr>
        <p:txBody>
          <a:bodyPr>
            <a:noAutofit/>
          </a:bodyPr>
          <a:lstStyle/>
          <a:p>
            <a:pPr marL="342900" indent="-342900" algn="l">
              <a:buFont typeface="Arial" panose="020B0604020202020204" pitchFamily="34" charset="0"/>
              <a:buChar char="•"/>
            </a:pPr>
            <a:r>
              <a:rPr lang="en-US" sz="2000" dirty="0"/>
              <a:t>Focus Marketing on Sao Paulo: The data clearly shows Sao Paulo is our strongest market. We should allocate the largest portion of our advertising budget and offer faster shipping options in this specific region to maximize sales.</a:t>
            </a:r>
          </a:p>
          <a:p>
            <a:pPr algn="l"/>
            <a:endParaRPr lang="en-US" sz="2000" dirty="0"/>
          </a:p>
          <a:p>
            <a:pPr marL="342900" indent="-342900" algn="l">
              <a:buFont typeface="Arial" panose="020B0604020202020204" pitchFamily="34" charset="0"/>
              <a:buChar char="•"/>
            </a:pPr>
            <a:r>
              <a:rPr lang="en-US" sz="2000" dirty="0"/>
              <a:t>Promote Installment Options: With over 50% of orders paid in installments, this feature is critical to our success. We should make "Pay in Installments" highly visible on every product page to encourage more people to buy.</a:t>
            </a:r>
          </a:p>
          <a:p>
            <a:pPr algn="l"/>
            <a:endParaRPr lang="en-US" sz="2000" dirty="0"/>
          </a:p>
          <a:p>
            <a:pPr marL="342900" indent="-342900" algn="l">
              <a:buFont typeface="Arial" panose="020B0604020202020204" pitchFamily="34" charset="0"/>
              <a:buChar char="•"/>
            </a:pPr>
            <a:r>
              <a:rPr lang="en-US" sz="2000" dirty="0"/>
              <a:t>Create a VIP Seller Program: A small group of top sellers generates most of the revenue. We should assign them dedicated support managers or give them lower platform fees to ensure they don't leave for a competitor.</a:t>
            </a:r>
          </a:p>
          <a:p>
            <a:pPr algn="l"/>
            <a:endParaRPr lang="en-US" sz="2000" dirty="0"/>
          </a:p>
          <a:p>
            <a:pPr marL="342900" indent="-342900" algn="l">
              <a:buFont typeface="Arial" panose="020B0604020202020204" pitchFamily="34" charset="0"/>
              <a:buChar char="•"/>
            </a:pPr>
            <a:r>
              <a:rPr lang="en-US" sz="2000" dirty="0"/>
              <a:t>Launch a Customer Retention Campaign: Since 0% of retention rate,</a:t>
            </a:r>
            <a:r>
              <a:rPr lang="en-IN" sz="2000" dirty="0"/>
              <a:t> indicating that first-time buyers are not returning to make a second purchase within 6 months.</a:t>
            </a:r>
            <a:r>
              <a:rPr lang="en-US" sz="2000" dirty="0"/>
              <a:t> we urgently need to create an automated email campaign offering a special discount for a customer's second purchase.</a:t>
            </a:r>
          </a:p>
          <a:p>
            <a:pPr marL="342900" indent="-342900" algn="l">
              <a:buFont typeface="Arial" panose="020B0604020202020204" pitchFamily="34" charset="0"/>
              <a:buChar char="•"/>
            </a:pPr>
            <a:endParaRPr lang="en-IN" sz="2000" dirty="0"/>
          </a:p>
        </p:txBody>
      </p:sp>
    </p:spTree>
    <p:extLst>
      <p:ext uri="{BB962C8B-B14F-4D97-AF65-F5344CB8AC3E}">
        <p14:creationId xmlns:p14="http://schemas.microsoft.com/office/powerpoint/2010/main" val="2552822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902</TotalTime>
  <Words>947</Words>
  <Application>Microsoft Office PowerPoint</Application>
  <PresentationFormat>Widescreen</PresentationFormat>
  <Paragraphs>49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Project Summary: End-To-End-Sales-Analysis </vt:lpstr>
      <vt:lpstr>1. List all unique cities where customers are located. </vt:lpstr>
      <vt:lpstr>2. Find the total sales per category. </vt:lpstr>
      <vt:lpstr>3. Count the number of orders placed in 2017. </vt:lpstr>
      <vt:lpstr>4. Calculate the percentage of orders that were paid in installments.  </vt:lpstr>
      <vt:lpstr>5. Count the number of customers from each state </vt:lpstr>
      <vt:lpstr>6. Calculate the number orders per month in 2018</vt:lpstr>
      <vt:lpstr>7. Find the average number of products per order, grouped by customer city.   </vt:lpstr>
      <vt:lpstr>8. Calculate the percentage of total revenue contributed by each product category. </vt:lpstr>
      <vt:lpstr>9. Calculate the total revenue generated by each seller, and rank them by revenue. </vt:lpstr>
      <vt:lpstr>10. Identify the correlation between product price and the number of times a product has been purchased.   </vt:lpstr>
      <vt:lpstr>11. Calculate the moving average of order values for each customer over their order history.  </vt:lpstr>
      <vt:lpstr>12.  Calculate the cumulative sales per month for each year. </vt:lpstr>
      <vt:lpstr>13. Calculate the year-over-year growth rate of total sales. </vt:lpstr>
      <vt:lpstr>14. Calculate the retention rate of customers, defined as the percentage of customers who make another purchase within 6 months of their first purchase.</vt:lpstr>
      <vt:lpstr>15.  Identify the top 3 customers who spent the most money in each year. </vt:lpstr>
      <vt:lpstr>Key Business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komal chahal</dc:creator>
  <cp:lastModifiedBy>komal chahal</cp:lastModifiedBy>
  <cp:revision>9</cp:revision>
  <dcterms:created xsi:type="dcterms:W3CDTF">2026-05-27T17:36:00Z</dcterms:created>
  <dcterms:modified xsi:type="dcterms:W3CDTF">2026-06-10T16:56:57Z</dcterms:modified>
</cp:coreProperties>
</file>